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/>
          <p:cNvSpPr/>
          <p:nvPr/>
        </p:nvSpPr>
        <p:spPr>
          <a:xfrm>
            <a:off x="720" y="-180000"/>
            <a:ext cx="12191400" cy="685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Header"/>
          <p:cNvSpPr/>
          <p:nvPr/>
        </p:nvSpPr>
        <p:spPr>
          <a:xfrm>
            <a:off x="0" y="0"/>
            <a:ext cx="12191400" cy="959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" name="Accent"/>
          <p:cNvSpPr/>
          <p:nvPr/>
        </p:nvSpPr>
        <p:spPr>
          <a:xfrm>
            <a:off x="0" y="960120"/>
            <a:ext cx="163800" cy="589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080" tIns="45000" rIns="8208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HeaderTitle"/>
          <p:cNvSpPr/>
          <p:nvPr/>
        </p:nvSpPr>
        <p:spPr>
          <a:xfrm>
            <a:off x="640080" y="201240"/>
            <a:ext cx="98748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235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Выпускная квалификационная работа</a:t>
            </a:r>
            <a:endParaRPr lang="ru-RU" sz="2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MainTitle"/>
          <p:cNvSpPr/>
          <p:nvPr/>
        </p:nvSpPr>
        <p:spPr>
          <a:xfrm>
            <a:off x="777240" y="1234440"/>
            <a:ext cx="10202760" cy="1782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2550" b="0" u="none" strike="noStrike">
                <a:solidFill>
                  <a:srgbClr val="102A43"/>
                </a:solidFill>
                <a:effectLst/>
                <a:uFillTx/>
                <a:latin typeface="Arial"/>
              </a:rPr>
              <a:t>Отладка и тестирование информационной системы</a:t>
            </a:r>
            <a:endParaRPr lang="ru-RU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2550" b="0" u="none" strike="noStrike">
                <a:solidFill>
                  <a:srgbClr val="102A43"/>
                </a:solidFill>
                <a:effectLst/>
                <a:uFillTx/>
                <a:latin typeface="Arial"/>
              </a:rPr>
              <a:t>для учета клиентов фитнес-клуба</a:t>
            </a:r>
            <a:endParaRPr lang="ru-RU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2550" b="0" u="none" strike="noStrike">
                <a:solidFill>
                  <a:srgbClr val="102A43"/>
                </a:solidFill>
                <a:effectLst/>
                <a:uFillTx/>
                <a:latin typeface="Arial"/>
              </a:rPr>
              <a:t>с интеграцией мобильных приложений</a:t>
            </a:r>
            <a:endParaRPr lang="ru-RU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Metric"/>
          <p:cNvSpPr/>
          <p:nvPr/>
        </p:nvSpPr>
        <p:spPr>
          <a:xfrm>
            <a:off x="777240" y="3240000"/>
            <a:ext cx="3245400" cy="1260000"/>
          </a:xfrm>
          <a:prstGeom prst="roundRect">
            <a:avLst>
              <a:gd name="adj" fmla="val 16667"/>
            </a:avLst>
          </a:prstGeom>
          <a:solidFill>
            <a:srgbClr val="ECFDF5"/>
          </a:solidFill>
          <a:ln w="12700">
            <a:solidFill>
              <a:srgbClr val="BBF7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064E3B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064E3B"/>
                </a:solidFill>
                <a:effectLst/>
                <a:uFillTx/>
                <a:latin typeface="Arial"/>
              </a:rPr>
              <a:t>Python + Flask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064E3B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064E3B"/>
                </a:solidFill>
                <a:effectLst/>
                <a:uFillTx/>
                <a:latin typeface="Arial"/>
              </a:rPr>
              <a:t>серверная часть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Metric"/>
          <p:cNvSpPr/>
          <p:nvPr/>
        </p:nvSpPr>
        <p:spPr>
          <a:xfrm>
            <a:off x="4297680" y="3249000"/>
            <a:ext cx="3245400" cy="1250640"/>
          </a:xfrm>
          <a:prstGeom prst="roundRect">
            <a:avLst>
              <a:gd name="adj" fmla="val 16667"/>
            </a:avLst>
          </a:prstGeom>
          <a:solidFill>
            <a:srgbClr val="ECFDF5"/>
          </a:solidFill>
          <a:ln w="12700">
            <a:solidFill>
              <a:srgbClr val="BBF7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064E3B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064E3B"/>
                </a:solidFill>
                <a:effectLst/>
                <a:uFillTx/>
                <a:latin typeface="Arial"/>
              </a:rPr>
              <a:t>SQLite + SQLAlchemy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064E3B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064E3B"/>
                </a:solidFill>
                <a:effectLst/>
                <a:uFillTx/>
                <a:latin typeface="Arial"/>
              </a:rPr>
              <a:t>база данных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Metric"/>
          <p:cNvSpPr/>
          <p:nvPr/>
        </p:nvSpPr>
        <p:spPr>
          <a:xfrm>
            <a:off x="7818120" y="3240000"/>
            <a:ext cx="3245400" cy="1260000"/>
          </a:xfrm>
          <a:prstGeom prst="roundRect">
            <a:avLst>
              <a:gd name="adj" fmla="val 16667"/>
            </a:avLst>
          </a:prstGeom>
          <a:solidFill>
            <a:srgbClr val="ECFDF5"/>
          </a:solidFill>
          <a:ln w="12700">
            <a:solidFill>
              <a:srgbClr val="BBF7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064E3B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064E3B"/>
                </a:solidFill>
                <a:effectLst/>
                <a:uFillTx/>
                <a:latin typeface="Arial"/>
              </a:rPr>
              <a:t>pytest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064E3B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064E3B"/>
                </a:solidFill>
                <a:effectLst/>
                <a:uFillTx/>
                <a:latin typeface="Arial"/>
              </a:rPr>
              <a:t>проверка сценариев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FooterNote"/>
          <p:cNvSpPr/>
          <p:nvPr/>
        </p:nvSpPr>
        <p:spPr>
          <a:xfrm>
            <a:off x="777240" y="4709160"/>
            <a:ext cx="10382760" cy="8704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70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2200" b="0" u="none" strike="noStrike">
                <a:solidFill>
                  <a:srgbClr val="1E3A8A"/>
                </a:solidFill>
                <a:effectLst/>
                <a:uFillTx/>
                <a:latin typeface="Arial"/>
              </a:rPr>
              <a:t>Специальность 09.02.07 Информационные системы и программирование</a:t>
            </a:r>
            <a:endParaRPr lang="ru-RU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Footer"/>
          <p:cNvSpPr/>
          <p:nvPr/>
        </p:nvSpPr>
        <p:spPr>
          <a:xfrm>
            <a:off x="10625400" y="6473880"/>
            <a:ext cx="639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4120" rIns="180000" bIns="11412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1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ackground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Header"/>
          <p:cNvSpPr/>
          <p:nvPr/>
        </p:nvSpPr>
        <p:spPr>
          <a:xfrm>
            <a:off x="0" y="0"/>
            <a:ext cx="12191400" cy="959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Accent"/>
          <p:cNvSpPr/>
          <p:nvPr/>
        </p:nvSpPr>
        <p:spPr>
          <a:xfrm>
            <a:off x="0" y="960120"/>
            <a:ext cx="163800" cy="589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080" tIns="45000" rIns="8208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itle"/>
          <p:cNvSpPr/>
          <p:nvPr/>
        </p:nvSpPr>
        <p:spPr>
          <a:xfrm>
            <a:off x="502920" y="201240"/>
            <a:ext cx="108806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Актуальность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Content"/>
          <p:cNvSpPr/>
          <p:nvPr/>
        </p:nvSpPr>
        <p:spPr>
          <a:xfrm>
            <a:off x="685800" y="1234440"/>
            <a:ext cx="10194840" cy="489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Фитнес-клубу требуется единая цифровая среда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Ручной учет повышает риск ошибок в расписании и абонементах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Клиенту нужен самостоятельный доступ к тренировкам и записям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Администрации нужны аналитика и централизованное управление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Footer"/>
          <p:cNvSpPr/>
          <p:nvPr/>
        </p:nvSpPr>
        <p:spPr>
          <a:xfrm>
            <a:off x="10625400" y="6473880"/>
            <a:ext cx="639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4120" rIns="180000" bIns="11412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2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ackground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Header"/>
          <p:cNvSpPr/>
          <p:nvPr/>
        </p:nvSpPr>
        <p:spPr>
          <a:xfrm>
            <a:off x="0" y="0"/>
            <a:ext cx="12191400" cy="959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Accent"/>
          <p:cNvSpPr/>
          <p:nvPr/>
        </p:nvSpPr>
        <p:spPr>
          <a:xfrm>
            <a:off x="0" y="960120"/>
            <a:ext cx="163800" cy="589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080" tIns="45000" rIns="8208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itle"/>
          <p:cNvSpPr/>
          <p:nvPr/>
        </p:nvSpPr>
        <p:spPr>
          <a:xfrm>
            <a:off x="502920" y="201240"/>
            <a:ext cx="108806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Цель и задачи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Content"/>
          <p:cNvSpPr/>
          <p:nvPr/>
        </p:nvSpPr>
        <p:spPr>
          <a:xfrm>
            <a:off x="685800" y="1234440"/>
            <a:ext cx="10194840" cy="489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Цель: разработать и протестировать веб-систему управления фитнес-клубом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Проанализировать предметную область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Сформировать требования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Спроектировать архитектуру и БД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Реализовать модули пользователей, администратора, абонементов и отчетности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Провести тестирование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Footer"/>
          <p:cNvSpPr/>
          <p:nvPr/>
        </p:nvSpPr>
        <p:spPr>
          <a:xfrm>
            <a:off x="10625400" y="6473880"/>
            <a:ext cx="639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4120" rIns="180000" bIns="11412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3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Background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Header"/>
          <p:cNvSpPr/>
          <p:nvPr/>
        </p:nvSpPr>
        <p:spPr>
          <a:xfrm>
            <a:off x="0" y="0"/>
            <a:ext cx="12191400" cy="959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Accent"/>
          <p:cNvSpPr/>
          <p:nvPr/>
        </p:nvSpPr>
        <p:spPr>
          <a:xfrm>
            <a:off x="0" y="960120"/>
            <a:ext cx="163800" cy="589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080" tIns="45000" rIns="8208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itle"/>
          <p:cNvSpPr/>
          <p:nvPr/>
        </p:nvSpPr>
        <p:spPr>
          <a:xfrm>
            <a:off x="502920" y="201240"/>
            <a:ext cx="108806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Предметная область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Content"/>
          <p:cNvSpPr/>
          <p:nvPr/>
        </p:nvSpPr>
        <p:spPr>
          <a:xfrm>
            <a:off x="685800" y="1234440"/>
            <a:ext cx="10194840" cy="489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Участники: клиент, тренер, администратор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Процессы: регистрация, расписание, запись, абонементы, посещаемость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Ключевая сложность: взаимосвязь клиента, занятия, тренера и тарифа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Система должна поддерживать полный цикл обслуживания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Footer"/>
          <p:cNvSpPr/>
          <p:nvPr/>
        </p:nvSpPr>
        <p:spPr>
          <a:xfrm>
            <a:off x="10625400" y="6473880"/>
            <a:ext cx="639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4120" rIns="180000" bIns="11412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4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ackground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Header"/>
          <p:cNvSpPr/>
          <p:nvPr/>
        </p:nvSpPr>
        <p:spPr>
          <a:xfrm>
            <a:off x="0" y="0"/>
            <a:ext cx="12191400" cy="959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Accent"/>
          <p:cNvSpPr/>
          <p:nvPr/>
        </p:nvSpPr>
        <p:spPr>
          <a:xfrm>
            <a:off x="0" y="960120"/>
            <a:ext cx="163800" cy="589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080" tIns="45000" rIns="8208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itle"/>
          <p:cNvSpPr/>
          <p:nvPr/>
        </p:nvSpPr>
        <p:spPr>
          <a:xfrm>
            <a:off x="502920" y="201240"/>
            <a:ext cx="108806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Требования к системе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Content"/>
          <p:cNvSpPr/>
          <p:nvPr/>
        </p:nvSpPr>
        <p:spPr>
          <a:xfrm>
            <a:off x="685800" y="1234440"/>
            <a:ext cx="10194840" cy="489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Регистрация и авторизация пользователей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Просмотр тренировок и тренеров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Запись и отмена записи на занятие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Покупка, продление и заморозка абонемента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Административное управление справочниками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Аналитика и экспорт отчетов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Footer"/>
          <p:cNvSpPr/>
          <p:nvPr/>
        </p:nvSpPr>
        <p:spPr>
          <a:xfrm>
            <a:off x="10625400" y="6473880"/>
            <a:ext cx="639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4120" rIns="180000" bIns="11412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5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Background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Header"/>
          <p:cNvSpPr/>
          <p:nvPr/>
        </p:nvSpPr>
        <p:spPr>
          <a:xfrm>
            <a:off x="0" y="0"/>
            <a:ext cx="12191400" cy="959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Accent"/>
          <p:cNvSpPr/>
          <p:nvPr/>
        </p:nvSpPr>
        <p:spPr>
          <a:xfrm>
            <a:off x="0" y="960120"/>
            <a:ext cx="163800" cy="589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080" tIns="45000" rIns="8208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itle"/>
          <p:cNvSpPr/>
          <p:nvPr/>
        </p:nvSpPr>
        <p:spPr>
          <a:xfrm>
            <a:off x="502920" y="201240"/>
            <a:ext cx="108806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Диаграмма прецедентов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Content"/>
          <p:cNvSpPr/>
          <p:nvPr/>
        </p:nvSpPr>
        <p:spPr>
          <a:xfrm>
            <a:off x="685800" y="1234440"/>
            <a:ext cx="5531400" cy="489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Клиент работает с расписанием, записью и абонементами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Администратор управляет пользователями, тренерами, занятиями и отчетами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Диаграмма показывает границы системы и основные сценарии использования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ImageFrame"/>
          <p:cNvSpPr/>
          <p:nvPr/>
        </p:nvSpPr>
        <p:spPr>
          <a:xfrm>
            <a:off x="6400800" y="1207080"/>
            <a:ext cx="4891320" cy="479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diagrams/use_case_diagram.png"/>
          <p:cNvPicPr/>
          <p:nvPr/>
        </p:nvPicPr>
        <p:blipFill>
          <a:blip r:embed="rId1"/>
          <a:stretch/>
        </p:blipFill>
        <p:spPr>
          <a:xfrm>
            <a:off x="6537960" y="2068920"/>
            <a:ext cx="4754160" cy="297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Footer"/>
          <p:cNvSpPr/>
          <p:nvPr/>
        </p:nvSpPr>
        <p:spPr>
          <a:xfrm>
            <a:off x="10625400" y="6473880"/>
            <a:ext cx="639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4120" rIns="180000" bIns="11412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6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Background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Header"/>
          <p:cNvSpPr/>
          <p:nvPr/>
        </p:nvSpPr>
        <p:spPr>
          <a:xfrm>
            <a:off x="0" y="0"/>
            <a:ext cx="12191400" cy="959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Accent"/>
          <p:cNvSpPr/>
          <p:nvPr/>
        </p:nvSpPr>
        <p:spPr>
          <a:xfrm>
            <a:off x="0" y="960120"/>
            <a:ext cx="163800" cy="589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080" tIns="45000" rIns="8208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itle"/>
          <p:cNvSpPr/>
          <p:nvPr/>
        </p:nvSpPr>
        <p:spPr>
          <a:xfrm>
            <a:off x="502920" y="201240"/>
            <a:ext cx="108806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Технологический стек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Content"/>
          <p:cNvSpPr/>
          <p:nvPr/>
        </p:nvSpPr>
        <p:spPr>
          <a:xfrm>
            <a:off x="685800" y="1234440"/>
            <a:ext cx="10194840" cy="489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Python и Flask — серверная часть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SQLite и SQLAlchemy — хранение данных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Flask-Login — авторизация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Flask-WTF и WTForms — формы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Flask-Mail — уведомления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ReportLab и XlsxWriter — отчеты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pytest — тестирование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Footer"/>
          <p:cNvSpPr/>
          <p:nvPr/>
        </p:nvSpPr>
        <p:spPr>
          <a:xfrm>
            <a:off x="10625400" y="6473880"/>
            <a:ext cx="639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4120" rIns="180000" bIns="11412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7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ackground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Header"/>
          <p:cNvSpPr/>
          <p:nvPr/>
        </p:nvSpPr>
        <p:spPr>
          <a:xfrm>
            <a:off x="0" y="0"/>
            <a:ext cx="12191400" cy="959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Accent"/>
          <p:cNvSpPr/>
          <p:nvPr/>
        </p:nvSpPr>
        <p:spPr>
          <a:xfrm>
            <a:off x="0" y="960120"/>
            <a:ext cx="163800" cy="589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080" tIns="45000" rIns="8208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itle"/>
          <p:cNvSpPr/>
          <p:nvPr/>
        </p:nvSpPr>
        <p:spPr>
          <a:xfrm>
            <a:off x="502920" y="201240"/>
            <a:ext cx="108806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Архитектура проекта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Content"/>
          <p:cNvSpPr/>
          <p:nvPr/>
        </p:nvSpPr>
        <p:spPr>
          <a:xfrm>
            <a:off x="685800" y="1234440"/>
            <a:ext cx="5531400" cy="489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Приложение разделено на слои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controllers — маршруты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models — сущности БД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forms — проверка ввода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services — уведомления и отчеты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templates/static — интерфейс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ImageFrame"/>
          <p:cNvSpPr/>
          <p:nvPr/>
        </p:nvSpPr>
        <p:spPr>
          <a:xfrm>
            <a:off x="6400800" y="1207080"/>
            <a:ext cx="4891320" cy="479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" name="diagrams/project_structure.png"/>
          <p:cNvPicPr/>
          <p:nvPr/>
        </p:nvPicPr>
        <p:blipFill>
          <a:blip r:embed="rId1"/>
          <a:stretch/>
        </p:blipFill>
        <p:spPr>
          <a:xfrm>
            <a:off x="6473880" y="1800000"/>
            <a:ext cx="4754160" cy="372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Footer"/>
          <p:cNvSpPr/>
          <p:nvPr/>
        </p:nvSpPr>
        <p:spPr>
          <a:xfrm>
            <a:off x="10625400" y="6473880"/>
            <a:ext cx="639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4120" rIns="180000" bIns="11412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8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Background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Header"/>
          <p:cNvSpPr/>
          <p:nvPr/>
        </p:nvSpPr>
        <p:spPr>
          <a:xfrm>
            <a:off x="0" y="0"/>
            <a:ext cx="12191400" cy="959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Accent"/>
          <p:cNvSpPr/>
          <p:nvPr/>
        </p:nvSpPr>
        <p:spPr>
          <a:xfrm>
            <a:off x="0" y="960120"/>
            <a:ext cx="163800" cy="589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080" tIns="45000" rIns="8208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itle"/>
          <p:cNvSpPr/>
          <p:nvPr/>
        </p:nvSpPr>
        <p:spPr>
          <a:xfrm>
            <a:off x="502920" y="201240"/>
            <a:ext cx="108806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База данных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Content"/>
          <p:cNvSpPr/>
          <p:nvPr/>
        </p:nvSpPr>
        <p:spPr>
          <a:xfrm>
            <a:off x="685800" y="1234440"/>
            <a:ext cx="5531400" cy="489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User — пользователь и роль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Trainer — тренер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WorkoutType — тип занятия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Workout — тренировка в расписании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Booking — запись пользователя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Abonement и UserAbonement — тарифы и покупки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ImageFrame"/>
          <p:cNvSpPr/>
          <p:nvPr/>
        </p:nvSpPr>
        <p:spPr>
          <a:xfrm>
            <a:off x="6400800" y="1207080"/>
            <a:ext cx="4891320" cy="479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diagrams/er_diagram.png"/>
          <p:cNvPicPr/>
          <p:nvPr/>
        </p:nvPicPr>
        <p:blipFill>
          <a:blip r:embed="rId1"/>
          <a:stretch/>
        </p:blipFill>
        <p:spPr>
          <a:xfrm>
            <a:off x="7020000" y="1353240"/>
            <a:ext cx="3422880" cy="447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Footer"/>
          <p:cNvSpPr/>
          <p:nvPr/>
        </p:nvSpPr>
        <p:spPr>
          <a:xfrm>
            <a:off x="10625400" y="6473880"/>
            <a:ext cx="639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4120" rIns="180000" bIns="11412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9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Background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Header"/>
          <p:cNvSpPr/>
          <p:nvPr/>
        </p:nvSpPr>
        <p:spPr>
          <a:xfrm>
            <a:off x="0" y="0"/>
            <a:ext cx="12191400" cy="959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Accent"/>
          <p:cNvSpPr/>
          <p:nvPr/>
        </p:nvSpPr>
        <p:spPr>
          <a:xfrm>
            <a:off x="0" y="960120"/>
            <a:ext cx="163800" cy="589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080" tIns="45000" rIns="8208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itle"/>
          <p:cNvSpPr/>
          <p:nvPr/>
        </p:nvSpPr>
        <p:spPr>
          <a:xfrm>
            <a:off x="502920" y="201240"/>
            <a:ext cx="108806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Пользовательский сценарий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Content"/>
          <p:cNvSpPr/>
          <p:nvPr/>
        </p:nvSpPr>
        <p:spPr>
          <a:xfrm>
            <a:off x="685800" y="1234440"/>
            <a:ext cx="10194840" cy="489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Регистрация и вход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Просмотр расписания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Фильтрация тренировок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Просмотр карточки тренера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Запись на занятие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Просмотр личного расписания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Работа с абонементом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Footer"/>
          <p:cNvSpPr/>
          <p:nvPr/>
        </p:nvSpPr>
        <p:spPr>
          <a:xfrm>
            <a:off x="10625400" y="6473880"/>
            <a:ext cx="639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4120" rIns="180000" bIns="11412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10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Background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Header"/>
          <p:cNvSpPr/>
          <p:nvPr/>
        </p:nvSpPr>
        <p:spPr>
          <a:xfrm>
            <a:off x="0" y="0"/>
            <a:ext cx="12191400" cy="959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Accent"/>
          <p:cNvSpPr/>
          <p:nvPr/>
        </p:nvSpPr>
        <p:spPr>
          <a:xfrm>
            <a:off x="0" y="960120"/>
            <a:ext cx="163800" cy="589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080" tIns="45000" rIns="8208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itle"/>
          <p:cNvSpPr/>
          <p:nvPr/>
        </p:nvSpPr>
        <p:spPr>
          <a:xfrm>
            <a:off x="502920" y="201240"/>
            <a:ext cx="108806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Административный сценарий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Content"/>
          <p:cNvSpPr/>
          <p:nvPr/>
        </p:nvSpPr>
        <p:spPr>
          <a:xfrm>
            <a:off x="685800" y="1234440"/>
            <a:ext cx="5531400" cy="489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Вход администратора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Управление тренерами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Управление типами тренировок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Формирование расписания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Управление пользователями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Управление абонементами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Просмотр аналитики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ImageFrame"/>
          <p:cNvSpPr/>
          <p:nvPr/>
        </p:nvSpPr>
        <p:spPr>
          <a:xfrm>
            <a:off x="6400800" y="1207080"/>
            <a:ext cx="4891320" cy="479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diagrams/Controllers Class Diagram.png"/>
          <p:cNvPicPr/>
          <p:nvPr/>
        </p:nvPicPr>
        <p:blipFill>
          <a:blip r:embed="rId1"/>
          <a:stretch/>
        </p:blipFill>
        <p:spPr>
          <a:xfrm>
            <a:off x="6480000" y="2340000"/>
            <a:ext cx="4754160" cy="241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Footer"/>
          <p:cNvSpPr/>
          <p:nvPr/>
        </p:nvSpPr>
        <p:spPr>
          <a:xfrm>
            <a:off x="10625400" y="6473880"/>
            <a:ext cx="639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4120" rIns="180000" bIns="11412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11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Background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Header"/>
          <p:cNvSpPr/>
          <p:nvPr/>
        </p:nvSpPr>
        <p:spPr>
          <a:xfrm>
            <a:off x="0" y="0"/>
            <a:ext cx="12191400" cy="959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Accent"/>
          <p:cNvSpPr/>
          <p:nvPr/>
        </p:nvSpPr>
        <p:spPr>
          <a:xfrm>
            <a:off x="0" y="960120"/>
            <a:ext cx="163800" cy="589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080" tIns="45000" rIns="8208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itle"/>
          <p:cNvSpPr/>
          <p:nvPr/>
        </p:nvSpPr>
        <p:spPr>
          <a:xfrm>
            <a:off x="502920" y="201240"/>
            <a:ext cx="108806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Интерфейс: главная страница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Content"/>
          <p:cNvSpPr/>
          <p:nvPr/>
        </p:nvSpPr>
        <p:spPr>
          <a:xfrm>
            <a:off x="685800" y="1234440"/>
            <a:ext cx="5531400" cy="489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Публичный экран приложения до входа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Доступ к тренировкам, входу и регистрации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Визуальное представление пользовательского сервиса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ImageFrame"/>
          <p:cNvSpPr/>
          <p:nvPr/>
        </p:nvSpPr>
        <p:spPr>
          <a:xfrm>
            <a:off x="6400800" y="1207080"/>
            <a:ext cx="4891320" cy="479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" name="docs/screenshots/homepage.png"/>
          <p:cNvPicPr/>
          <p:nvPr/>
        </p:nvPicPr>
        <p:blipFill>
          <a:blip r:embed="rId1"/>
          <a:stretch/>
        </p:blipFill>
        <p:spPr>
          <a:xfrm>
            <a:off x="6473880" y="1980000"/>
            <a:ext cx="4754160" cy="313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Footer"/>
          <p:cNvSpPr/>
          <p:nvPr/>
        </p:nvSpPr>
        <p:spPr>
          <a:xfrm>
            <a:off x="10625400" y="6473880"/>
            <a:ext cx="639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4120" rIns="180000" bIns="11412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12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Background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Header"/>
          <p:cNvSpPr/>
          <p:nvPr/>
        </p:nvSpPr>
        <p:spPr>
          <a:xfrm>
            <a:off x="0" y="0"/>
            <a:ext cx="12191400" cy="959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Accent"/>
          <p:cNvSpPr/>
          <p:nvPr/>
        </p:nvSpPr>
        <p:spPr>
          <a:xfrm>
            <a:off x="0" y="960120"/>
            <a:ext cx="163800" cy="589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080" tIns="45000" rIns="8208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itle"/>
          <p:cNvSpPr/>
          <p:nvPr/>
        </p:nvSpPr>
        <p:spPr>
          <a:xfrm>
            <a:off x="502920" y="201240"/>
            <a:ext cx="108806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Интерфейс: посетитель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Content"/>
          <p:cNvSpPr/>
          <p:nvPr/>
        </p:nvSpPr>
        <p:spPr>
          <a:xfrm>
            <a:off x="685800" y="1234440"/>
            <a:ext cx="5531400" cy="489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Главная страница после авторизации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Доступны тренировки, план, расписание и абонементы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Верхнее меню отражает роль обычного пользователя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ImageFrame"/>
          <p:cNvSpPr/>
          <p:nvPr/>
        </p:nvSpPr>
        <p:spPr>
          <a:xfrm>
            <a:off x="6400800" y="1207080"/>
            <a:ext cx="4891320" cy="479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" name="docs/screenshots/homepage_user.png"/>
          <p:cNvPicPr/>
          <p:nvPr/>
        </p:nvPicPr>
        <p:blipFill>
          <a:blip r:embed="rId1"/>
          <a:stretch/>
        </p:blipFill>
        <p:spPr>
          <a:xfrm>
            <a:off x="6473880" y="1980000"/>
            <a:ext cx="4754160" cy="313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Footer"/>
          <p:cNvSpPr/>
          <p:nvPr/>
        </p:nvSpPr>
        <p:spPr>
          <a:xfrm>
            <a:off x="10625400" y="6473880"/>
            <a:ext cx="639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4120" rIns="180000" bIns="11412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13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ackground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Header"/>
          <p:cNvSpPr/>
          <p:nvPr/>
        </p:nvSpPr>
        <p:spPr>
          <a:xfrm>
            <a:off x="0" y="0"/>
            <a:ext cx="12191400" cy="959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Accent"/>
          <p:cNvSpPr/>
          <p:nvPr/>
        </p:nvSpPr>
        <p:spPr>
          <a:xfrm>
            <a:off x="0" y="960120"/>
            <a:ext cx="163800" cy="589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080" tIns="45000" rIns="8208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itle"/>
          <p:cNvSpPr/>
          <p:nvPr/>
        </p:nvSpPr>
        <p:spPr>
          <a:xfrm>
            <a:off x="502920" y="201240"/>
            <a:ext cx="108806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Интерфейс: тренировки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Content"/>
          <p:cNvSpPr/>
          <p:nvPr/>
        </p:nvSpPr>
        <p:spPr>
          <a:xfrm>
            <a:off x="685800" y="1234440"/>
            <a:ext cx="5531400" cy="489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Экран от лица посетителя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Показаны уведомления и пользовательские действия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Сценарий ведет клиента к подбору плана и записи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ImageFrame"/>
          <p:cNvSpPr/>
          <p:nvPr/>
        </p:nvSpPr>
        <p:spPr>
          <a:xfrm>
            <a:off x="6400800" y="1207080"/>
            <a:ext cx="4891320" cy="479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docs/screenshots/visitor_workouts.png"/>
          <p:cNvPicPr/>
          <p:nvPr/>
        </p:nvPicPr>
        <p:blipFill>
          <a:blip r:embed="rId1"/>
          <a:stretch/>
        </p:blipFill>
        <p:spPr>
          <a:xfrm>
            <a:off x="6480000" y="1980000"/>
            <a:ext cx="4754160" cy="313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Footer"/>
          <p:cNvSpPr/>
          <p:nvPr/>
        </p:nvSpPr>
        <p:spPr>
          <a:xfrm>
            <a:off x="10625400" y="6473880"/>
            <a:ext cx="639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4120" rIns="180000" bIns="11412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14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ackground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Header"/>
          <p:cNvSpPr/>
          <p:nvPr/>
        </p:nvSpPr>
        <p:spPr>
          <a:xfrm>
            <a:off x="0" y="0"/>
            <a:ext cx="12191400" cy="959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Accent"/>
          <p:cNvSpPr/>
          <p:nvPr/>
        </p:nvSpPr>
        <p:spPr>
          <a:xfrm>
            <a:off x="0" y="960120"/>
            <a:ext cx="163800" cy="589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080" tIns="45000" rIns="8208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itle"/>
          <p:cNvSpPr/>
          <p:nvPr/>
        </p:nvSpPr>
        <p:spPr>
          <a:xfrm>
            <a:off x="502920" y="201240"/>
            <a:ext cx="108806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Интерфейс: администратор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Content"/>
          <p:cNvSpPr/>
          <p:nvPr/>
        </p:nvSpPr>
        <p:spPr>
          <a:xfrm>
            <a:off x="685800" y="1234440"/>
            <a:ext cx="5531400" cy="489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Административный режим после входа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Переходы к клиентам, тренировкам и аналитике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Раздел доступен только пользователю с ролью администратора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ImageFrame"/>
          <p:cNvSpPr/>
          <p:nvPr/>
        </p:nvSpPr>
        <p:spPr>
          <a:xfrm>
            <a:off x="6400800" y="1207080"/>
            <a:ext cx="4891320" cy="479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docs/screenshots/admin_dashboard.png"/>
          <p:cNvPicPr/>
          <p:nvPr/>
        </p:nvPicPr>
        <p:blipFill>
          <a:blip r:embed="rId1"/>
          <a:stretch/>
        </p:blipFill>
        <p:spPr>
          <a:xfrm>
            <a:off x="6473880" y="1980000"/>
            <a:ext cx="4754160" cy="313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Footer"/>
          <p:cNvSpPr/>
          <p:nvPr/>
        </p:nvSpPr>
        <p:spPr>
          <a:xfrm>
            <a:off x="10625400" y="6473880"/>
            <a:ext cx="639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4120" rIns="180000" bIns="11412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15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Background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Header"/>
          <p:cNvSpPr/>
          <p:nvPr/>
        </p:nvSpPr>
        <p:spPr>
          <a:xfrm>
            <a:off x="0" y="0"/>
            <a:ext cx="12191400" cy="959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Accent"/>
          <p:cNvSpPr/>
          <p:nvPr/>
        </p:nvSpPr>
        <p:spPr>
          <a:xfrm>
            <a:off x="0" y="960120"/>
            <a:ext cx="163800" cy="589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080" tIns="45000" rIns="8208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itle"/>
          <p:cNvSpPr/>
          <p:nvPr/>
        </p:nvSpPr>
        <p:spPr>
          <a:xfrm>
            <a:off x="502920" y="201240"/>
            <a:ext cx="108806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Интерфейс: клиенты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Content"/>
          <p:cNvSpPr/>
          <p:nvPr/>
        </p:nvSpPr>
        <p:spPr>
          <a:xfrm>
            <a:off x="685800" y="1234440"/>
            <a:ext cx="5531400" cy="489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Табличное управление пользователями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Отображаются статусы, активность и риск ухода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Администратор может перейти к карточке клиента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ImageFrame"/>
          <p:cNvSpPr/>
          <p:nvPr/>
        </p:nvSpPr>
        <p:spPr>
          <a:xfrm>
            <a:off x="6400800" y="1207080"/>
            <a:ext cx="4891320" cy="479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docs/screenshots/admin_users.png"/>
          <p:cNvPicPr/>
          <p:nvPr/>
        </p:nvPicPr>
        <p:blipFill>
          <a:blip r:embed="rId1"/>
          <a:stretch/>
        </p:blipFill>
        <p:spPr>
          <a:xfrm>
            <a:off x="6480000" y="1980000"/>
            <a:ext cx="4754160" cy="313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Footer"/>
          <p:cNvSpPr/>
          <p:nvPr/>
        </p:nvSpPr>
        <p:spPr>
          <a:xfrm>
            <a:off x="10625400" y="6473880"/>
            <a:ext cx="639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4120" rIns="180000" bIns="11412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16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Background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Header"/>
          <p:cNvSpPr/>
          <p:nvPr/>
        </p:nvSpPr>
        <p:spPr>
          <a:xfrm>
            <a:off x="0" y="0"/>
            <a:ext cx="12191400" cy="959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Accent"/>
          <p:cNvSpPr/>
          <p:nvPr/>
        </p:nvSpPr>
        <p:spPr>
          <a:xfrm>
            <a:off x="0" y="960120"/>
            <a:ext cx="163800" cy="589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080" tIns="45000" rIns="8208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itle"/>
          <p:cNvSpPr/>
          <p:nvPr/>
        </p:nvSpPr>
        <p:spPr>
          <a:xfrm>
            <a:off x="502920" y="201240"/>
            <a:ext cx="108806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Абонементы и уведомления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Content"/>
          <p:cNvSpPr/>
          <p:nvPr/>
        </p:nvSpPr>
        <p:spPr>
          <a:xfrm>
            <a:off x="685800" y="1234440"/>
            <a:ext cx="5531400" cy="489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Каталог тарифов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Покупка абонемента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Расчет срока действия и остатка посещений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Продление и заморозка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Уведомления о тренировках и состоянии абонемента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ImageFrame"/>
          <p:cNvSpPr/>
          <p:nvPr/>
        </p:nvSpPr>
        <p:spPr>
          <a:xfrm>
            <a:off x="6400800" y="1207080"/>
            <a:ext cx="4891320" cy="479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diagrams/services_class.png"/>
          <p:cNvPicPr/>
          <p:nvPr/>
        </p:nvPicPr>
        <p:blipFill>
          <a:blip r:embed="rId1"/>
          <a:stretch/>
        </p:blipFill>
        <p:spPr>
          <a:xfrm>
            <a:off x="6473880" y="1980000"/>
            <a:ext cx="4754160" cy="323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Footer"/>
          <p:cNvSpPr/>
          <p:nvPr/>
        </p:nvSpPr>
        <p:spPr>
          <a:xfrm>
            <a:off x="10625400" y="6473880"/>
            <a:ext cx="639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4120" rIns="180000" bIns="11412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17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Background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Header"/>
          <p:cNvSpPr/>
          <p:nvPr/>
        </p:nvSpPr>
        <p:spPr>
          <a:xfrm>
            <a:off x="0" y="0"/>
            <a:ext cx="12191400" cy="959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Accent"/>
          <p:cNvSpPr/>
          <p:nvPr/>
        </p:nvSpPr>
        <p:spPr>
          <a:xfrm>
            <a:off x="0" y="960120"/>
            <a:ext cx="163800" cy="589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080" tIns="45000" rIns="8208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itle"/>
          <p:cNvSpPr/>
          <p:nvPr/>
        </p:nvSpPr>
        <p:spPr>
          <a:xfrm>
            <a:off x="502920" y="201240"/>
            <a:ext cx="108806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Аналитика и отчеты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Content"/>
          <p:cNvSpPr/>
          <p:nvPr/>
        </p:nvSpPr>
        <p:spPr>
          <a:xfrm>
            <a:off x="685800" y="1234440"/>
            <a:ext cx="10194840" cy="489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Популярность тренировок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Загрузка тренеров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Посещаемость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Выбор периода отчета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Экспорт в PDF и Excel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Поддержка управленческих решений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Footer"/>
          <p:cNvSpPr/>
          <p:nvPr/>
        </p:nvSpPr>
        <p:spPr>
          <a:xfrm>
            <a:off x="10625400" y="6473880"/>
            <a:ext cx="639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4120" rIns="180000" bIns="11412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18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Background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Header"/>
          <p:cNvSpPr/>
          <p:nvPr/>
        </p:nvSpPr>
        <p:spPr>
          <a:xfrm>
            <a:off x="0" y="0"/>
            <a:ext cx="12191400" cy="959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Accent"/>
          <p:cNvSpPr/>
          <p:nvPr/>
        </p:nvSpPr>
        <p:spPr>
          <a:xfrm>
            <a:off x="0" y="960120"/>
            <a:ext cx="163800" cy="589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080" tIns="45000" rIns="8208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itle"/>
          <p:cNvSpPr/>
          <p:nvPr/>
        </p:nvSpPr>
        <p:spPr>
          <a:xfrm>
            <a:off x="502920" y="201240"/>
            <a:ext cx="108806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Тестирование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Content"/>
          <p:cNvSpPr/>
          <p:nvPr/>
        </p:nvSpPr>
        <p:spPr>
          <a:xfrm>
            <a:off x="685800" y="1234440"/>
            <a:ext cx="5531400" cy="489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pytest и тестовая SQLite БД в памяти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Проверка главной страницы, входа и регистрации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Проверка пользовательских маршрутов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Проверка административного доступа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Проверка моделей User, Workout и Booking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ImageFrame"/>
          <p:cNvSpPr/>
          <p:nvPr/>
        </p:nvSpPr>
        <p:spPr>
          <a:xfrm>
            <a:off x="6400800" y="1207080"/>
            <a:ext cx="4891320" cy="479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diagrams/tests_class.png"/>
          <p:cNvPicPr/>
          <p:nvPr/>
        </p:nvPicPr>
        <p:blipFill>
          <a:blip r:embed="rId1"/>
          <a:stretch/>
        </p:blipFill>
        <p:spPr>
          <a:xfrm>
            <a:off x="6480000" y="1817280"/>
            <a:ext cx="4754160" cy="358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Footer"/>
          <p:cNvSpPr/>
          <p:nvPr/>
        </p:nvSpPr>
        <p:spPr>
          <a:xfrm>
            <a:off x="10625400" y="6473880"/>
            <a:ext cx="639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4120" rIns="180000" bIns="11412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19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Background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Header"/>
          <p:cNvSpPr/>
          <p:nvPr/>
        </p:nvSpPr>
        <p:spPr>
          <a:xfrm>
            <a:off x="0" y="0"/>
            <a:ext cx="12191400" cy="959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Accent"/>
          <p:cNvSpPr/>
          <p:nvPr/>
        </p:nvSpPr>
        <p:spPr>
          <a:xfrm>
            <a:off x="0" y="960120"/>
            <a:ext cx="163800" cy="589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080" tIns="45000" rIns="8208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itle"/>
          <p:cNvSpPr/>
          <p:nvPr/>
        </p:nvSpPr>
        <p:spPr>
          <a:xfrm>
            <a:off x="502920" y="201240"/>
            <a:ext cx="108806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Результат разработки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Content"/>
          <p:cNvSpPr/>
          <p:nvPr/>
        </p:nvSpPr>
        <p:spPr>
          <a:xfrm>
            <a:off x="685800" y="1234440"/>
            <a:ext cx="10194840" cy="489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Создана веб-ИС для фитнес-клуба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Снижена ручная нагрузка администратора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Централизованы расписание, клиенты и абонементы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Добавлены аналитика и отчетность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Архитектура допускает дальнейшее развитие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Footer"/>
          <p:cNvSpPr/>
          <p:nvPr/>
        </p:nvSpPr>
        <p:spPr>
          <a:xfrm>
            <a:off x="10625400" y="6473880"/>
            <a:ext cx="639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4120" rIns="180000" bIns="11412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20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Background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Header"/>
          <p:cNvSpPr/>
          <p:nvPr/>
        </p:nvSpPr>
        <p:spPr>
          <a:xfrm>
            <a:off x="0" y="0"/>
            <a:ext cx="12191400" cy="9594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Accent"/>
          <p:cNvSpPr/>
          <p:nvPr/>
        </p:nvSpPr>
        <p:spPr>
          <a:xfrm>
            <a:off x="0" y="960120"/>
            <a:ext cx="163800" cy="58971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2080" tIns="45000" rIns="8208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itle"/>
          <p:cNvSpPr/>
          <p:nvPr/>
        </p:nvSpPr>
        <p:spPr>
          <a:xfrm>
            <a:off x="502920" y="201240"/>
            <a:ext cx="1088064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Заключение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Content"/>
          <p:cNvSpPr/>
          <p:nvPr/>
        </p:nvSpPr>
        <p:spPr>
          <a:xfrm>
            <a:off x="685800" y="1234440"/>
            <a:ext cx="10194840" cy="489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19880" rIns="180000" bIns="119880" anchor="t">
            <a:noAutofit/>
          </a:bodyPr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Цель ВКР достигнута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Разработаны пользовательская и административная части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Реализованы абонементы, уведомления и отчеты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Проведено тестирование ключевых сценариев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180000">
              <a:lnSpc>
                <a:spcPct val="100000"/>
              </a:lnSpc>
              <a:buClr>
                <a:srgbClr val="111827"/>
              </a:buClr>
              <a:buFont typeface="Symbol" charset="2"/>
              <a:buChar char=""/>
            </a:pPr>
            <a:r>
              <a:rPr lang="ru-RU" sz="2150" b="0" u="none" strike="noStrike">
                <a:solidFill>
                  <a:srgbClr val="111827"/>
                </a:solidFill>
                <a:effectLst/>
                <a:uFillTx/>
                <a:latin typeface="Arial"/>
              </a:rPr>
              <a:t>Перспективы: онлайн-оплата, мобильная версия, кабинет тренера</a:t>
            </a:r>
            <a:endParaRPr lang="ru-RU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Footer"/>
          <p:cNvSpPr/>
          <p:nvPr/>
        </p:nvSpPr>
        <p:spPr>
          <a:xfrm>
            <a:off x="10625400" y="6473880"/>
            <a:ext cx="6393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14120" rIns="180000" bIns="11412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300" b="0" u="none" strike="noStrike">
                <a:solidFill>
                  <a:srgbClr val="64748B"/>
                </a:solidFill>
                <a:effectLst/>
                <a:uFillTx/>
                <a:latin typeface="Arial"/>
              </a:rPr>
              <a:t>21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16A34A"/>
      </a:accent2>
      <a:accent3>
        <a:srgbClr val="F59E0B"/>
      </a:accent3>
      <a:accent4>
        <a:srgbClr val="DC2626"/>
      </a:accent4>
      <a:accent5>
        <a:srgbClr val="7C3AED"/>
      </a:accent5>
      <a:accent6>
        <a:srgbClr val="0891B2"/>
      </a:accent6>
      <a:hlink>
        <a:srgbClr val="0000FF"/>
      </a:hlink>
      <a:folHlink>
        <a:srgbClr val="800080"/>
      </a:folHlink>
    </a:clrScheme>
    <a:fontScheme name="Arial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</a:fillStyleLst>
      <a:lnStyleLst>
        <a:ln w="9525"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LibreOffice/26.2.4.2$Windows_X86_64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ru-RU</dc:language>
  <cp:lastModifiedBy/>
  <dcterms:modified xsi:type="dcterms:W3CDTF">2026-06-20T19:48:02Z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