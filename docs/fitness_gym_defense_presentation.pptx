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Header"/>
          <p:cNvSpPr/>
          <p:nvPr/>
        </p:nvSpPr>
        <p:spPr>
          <a:xfrm>
            <a:off x="0" y="0"/>
            <a:ext cx="12191760" cy="95976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" name="Accent"/>
          <p:cNvSpPr/>
          <p:nvPr/>
        </p:nvSpPr>
        <p:spPr>
          <a:xfrm>
            <a:off x="0" y="960120"/>
            <a:ext cx="164160" cy="58975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" name="Title"/>
          <p:cNvSpPr/>
          <p:nvPr/>
        </p:nvSpPr>
        <p:spPr>
          <a:xfrm>
            <a:off x="502920" y="201240"/>
            <a:ext cx="110170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0" tIns="119880" rIns="180000" bIns="11988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-RU" sz="33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Разработка и тестирование ИС для управления фитнес-клубом</a:t>
            </a:r>
            <a:endParaRPr lang="ru-R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Subtitle"/>
          <p:cNvSpPr/>
          <p:nvPr/>
        </p:nvSpPr>
        <p:spPr>
          <a:xfrm>
            <a:off x="731520" y="1417320"/>
            <a:ext cx="5943240" cy="1325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00" tIns="119880" rIns="180000" bIns="11988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-RU" sz="3300" b="0" u="none" strike="noStrike">
                <a:solidFill>
                  <a:srgbClr val="102A43"/>
                </a:solidFill>
                <a:effectLst/>
                <a:uFillTx/>
                <a:latin typeface="Arial"/>
              </a:rPr>
              <a:t>Информационная система для записи на тренировки, учета абонементов, администрирования и аналитики фитнес-клуба</a:t>
            </a:r>
            <a:endParaRPr lang="ru-R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Metric"/>
          <p:cNvSpPr/>
          <p:nvPr/>
        </p:nvSpPr>
        <p:spPr>
          <a:xfrm>
            <a:off x="777240" y="3063240"/>
            <a:ext cx="3245760" cy="959760"/>
          </a:xfrm>
          <a:prstGeom prst="roundRect">
            <a:avLst>
              <a:gd name="adj" fmla="val 16667"/>
            </a:avLst>
          </a:prstGeom>
          <a:solidFill>
            <a:srgbClr val="ECFDF5"/>
          </a:solidFill>
          <a:ln w="12700">
            <a:solidFill>
              <a:srgbClr val="BBF7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00" tIns="119880" rIns="180000" bIns="119880" anchor="t">
            <a:noAutofit/>
          </a:bodyPr>
          <a:p>
            <a:pPr indent="-180000">
              <a:lnSpc>
                <a:spcPct val="100000"/>
              </a:lnSpc>
              <a:buClr>
                <a:srgbClr val="064E3B"/>
              </a:buClr>
              <a:buFont typeface="Symbol" charset="2"/>
              <a:buChar char=""/>
            </a:pPr>
            <a:r>
              <a:rPr lang="ru-RU" sz="2150" b="0" u="none" strike="noStrike">
                <a:solidFill>
                  <a:srgbClr val="064E3B"/>
                </a:solidFill>
                <a:effectLst/>
                <a:uFillTx/>
                <a:latin typeface="Arial"/>
              </a:rPr>
              <a:t>Python + Flask</a:t>
            </a:r>
            <a:endParaRPr lang="ru-RU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-180000">
              <a:lnSpc>
                <a:spcPct val="100000"/>
              </a:lnSpc>
              <a:buClr>
                <a:srgbClr val="064E3B"/>
              </a:buClr>
              <a:buFont typeface="Symbol" charset="2"/>
              <a:buChar char=""/>
            </a:pPr>
            <a:r>
              <a:rPr lang="ru-RU" sz="2150" b="0" u="none" strike="noStrike">
                <a:solidFill>
                  <a:srgbClr val="064E3B"/>
                </a:solidFill>
                <a:effectLst/>
                <a:uFillTx/>
                <a:latin typeface="Arial"/>
              </a:rPr>
              <a:t>серверная часть</a:t>
            </a:r>
            <a:endParaRPr lang="ru-RU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Metric"/>
          <p:cNvSpPr/>
          <p:nvPr/>
        </p:nvSpPr>
        <p:spPr>
          <a:xfrm>
            <a:off x="4297680" y="3063240"/>
            <a:ext cx="3245760" cy="959760"/>
          </a:xfrm>
          <a:prstGeom prst="roundRect">
            <a:avLst>
              <a:gd name="adj" fmla="val 16667"/>
            </a:avLst>
          </a:prstGeom>
          <a:solidFill>
            <a:srgbClr val="ECFDF5"/>
          </a:solidFill>
          <a:ln w="12700">
            <a:solidFill>
              <a:srgbClr val="BBF7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00" tIns="119880" rIns="180000" bIns="119880" anchor="t">
            <a:noAutofit/>
          </a:bodyPr>
          <a:p>
            <a:pPr indent="-180000">
              <a:lnSpc>
                <a:spcPct val="100000"/>
              </a:lnSpc>
              <a:buClr>
                <a:srgbClr val="064E3B"/>
              </a:buClr>
              <a:buFont typeface="Symbol" charset="2"/>
              <a:buChar char=""/>
            </a:pPr>
            <a:r>
              <a:rPr lang="ru-RU" sz="2150" b="0" u="none" strike="noStrike">
                <a:solidFill>
                  <a:srgbClr val="064E3B"/>
                </a:solidFill>
                <a:effectLst/>
                <a:uFillTx/>
                <a:latin typeface="Arial"/>
              </a:rPr>
              <a:t>SQLite + SQLAlchemy</a:t>
            </a:r>
            <a:endParaRPr lang="ru-RU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-180000">
              <a:lnSpc>
                <a:spcPct val="100000"/>
              </a:lnSpc>
              <a:buClr>
                <a:srgbClr val="064E3B"/>
              </a:buClr>
              <a:buFont typeface="Symbol" charset="2"/>
              <a:buChar char=""/>
            </a:pPr>
            <a:r>
              <a:rPr lang="ru-RU" sz="2150" b="0" u="none" strike="noStrike">
                <a:solidFill>
                  <a:srgbClr val="064E3B"/>
                </a:solidFill>
                <a:effectLst/>
                <a:uFillTx/>
                <a:latin typeface="Arial"/>
              </a:rPr>
              <a:t>база данных</a:t>
            </a:r>
            <a:endParaRPr lang="ru-RU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Metric"/>
          <p:cNvSpPr/>
          <p:nvPr/>
        </p:nvSpPr>
        <p:spPr>
          <a:xfrm>
            <a:off x="7818120" y="3063240"/>
            <a:ext cx="3245760" cy="959760"/>
          </a:xfrm>
          <a:prstGeom prst="roundRect">
            <a:avLst>
              <a:gd name="adj" fmla="val 16667"/>
            </a:avLst>
          </a:prstGeom>
          <a:solidFill>
            <a:srgbClr val="ECFDF5"/>
          </a:solidFill>
          <a:ln w="12700">
            <a:solidFill>
              <a:srgbClr val="BBF7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00" tIns="119880" rIns="180000" bIns="119880" anchor="t">
            <a:noAutofit/>
          </a:bodyPr>
          <a:p>
            <a:pPr indent="-180000">
              <a:lnSpc>
                <a:spcPct val="100000"/>
              </a:lnSpc>
              <a:buClr>
                <a:srgbClr val="064E3B"/>
              </a:buClr>
              <a:buFont typeface="Symbol" charset="2"/>
              <a:buChar char=""/>
            </a:pPr>
            <a:r>
              <a:rPr lang="ru-RU" sz="2150" b="0" u="none" strike="noStrike">
                <a:solidFill>
                  <a:srgbClr val="064E3B"/>
                </a:solidFill>
                <a:effectLst/>
                <a:uFillTx/>
                <a:latin typeface="Arial"/>
              </a:rPr>
              <a:t>pytest</a:t>
            </a:r>
            <a:endParaRPr lang="ru-RU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-180000">
              <a:lnSpc>
                <a:spcPct val="100000"/>
              </a:lnSpc>
              <a:buClr>
                <a:srgbClr val="064E3B"/>
              </a:buClr>
              <a:buFont typeface="Symbol" charset="2"/>
              <a:buChar char=""/>
            </a:pPr>
            <a:r>
              <a:rPr lang="ru-RU" sz="2150" b="0" u="none" strike="noStrike">
                <a:solidFill>
                  <a:srgbClr val="064E3B"/>
                </a:solidFill>
                <a:effectLst/>
                <a:uFillTx/>
                <a:latin typeface="Arial"/>
              </a:rPr>
              <a:t>проверка сценариев</a:t>
            </a:r>
            <a:endParaRPr lang="ru-RU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FooterNote"/>
          <p:cNvSpPr/>
          <p:nvPr/>
        </p:nvSpPr>
        <p:spPr>
          <a:xfrm>
            <a:off x="777240" y="4572000"/>
            <a:ext cx="9875160" cy="82260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12700">
            <a:solidFill>
              <a:srgbClr val="BFDB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00" tIns="119880" rIns="180000" bIns="11988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-RU" sz="3300" b="0" u="none" strike="noStrike">
                <a:solidFill>
                  <a:srgbClr val="1E3A8A"/>
                </a:solidFill>
                <a:effectLst/>
                <a:uFillTx/>
                <a:latin typeface="Arial"/>
              </a:rPr>
              <a:t>ВКР по специальности 09.02.07 Информационные системы и программирование</a:t>
            </a:r>
            <a:endParaRPr lang="ru-R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Footer"/>
          <p:cNvSpPr/>
          <p:nvPr/>
        </p:nvSpPr>
        <p:spPr>
          <a:xfrm>
            <a:off x="10625400" y="6473880"/>
            <a:ext cx="639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0" tIns="114120" rIns="180000" bIns="11412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-RU" sz="3300" b="0" u="none" strike="noStrike">
                <a:solidFill>
                  <a:srgbClr val="64748B"/>
                </a:solidFill>
                <a:effectLst/>
                <a:uFillTx/>
                <a:latin typeface="Arial"/>
              </a:rPr>
              <a:t>1</a:t>
            </a:r>
            <a:endParaRPr lang="ru-R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ackground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Header"/>
          <p:cNvSpPr/>
          <p:nvPr/>
        </p:nvSpPr>
        <p:spPr>
          <a:xfrm>
            <a:off x="0" y="0"/>
            <a:ext cx="12191760" cy="95976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Accent"/>
          <p:cNvSpPr/>
          <p:nvPr/>
        </p:nvSpPr>
        <p:spPr>
          <a:xfrm>
            <a:off x="0" y="960120"/>
            <a:ext cx="164160" cy="58975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itle"/>
          <p:cNvSpPr/>
          <p:nvPr/>
        </p:nvSpPr>
        <p:spPr>
          <a:xfrm>
            <a:off x="502920" y="201240"/>
            <a:ext cx="108810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0" tIns="119880" rIns="180000" bIns="11988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-RU" sz="33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Актуальность</a:t>
            </a:r>
            <a:endParaRPr lang="ru-R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Content"/>
          <p:cNvSpPr/>
          <p:nvPr/>
        </p:nvSpPr>
        <p:spPr>
          <a:xfrm>
            <a:off x="685800" y="1234440"/>
            <a:ext cx="10195200" cy="4891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00" tIns="119880" rIns="180000" bIns="119880" anchor="t">
            <a:noAutofit/>
          </a:bodyPr>
          <a:p>
            <a:pPr indent="-180000">
              <a:lnSpc>
                <a:spcPct val="100000"/>
              </a:lnSpc>
              <a:buClr>
                <a:srgbClr val="111827"/>
              </a:buClr>
              <a:buFont typeface="Symbol" charset="2"/>
              <a:buChar char=""/>
            </a:pPr>
            <a:r>
              <a:rPr lang="ru-RU" sz="2150" b="0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Фитнес-клубу требуется единая цифровая среда</a:t>
            </a:r>
            <a:endParaRPr lang="ru-RU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-180000">
              <a:lnSpc>
                <a:spcPct val="100000"/>
              </a:lnSpc>
              <a:buClr>
                <a:srgbClr val="111827"/>
              </a:buClr>
              <a:buFont typeface="Symbol" charset="2"/>
              <a:buChar char=""/>
            </a:pPr>
            <a:r>
              <a:rPr lang="ru-RU" sz="2150" b="0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Ручной учет повышает риск ошибок в расписании и абонементах</a:t>
            </a:r>
            <a:endParaRPr lang="ru-RU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-180000">
              <a:lnSpc>
                <a:spcPct val="100000"/>
              </a:lnSpc>
              <a:buClr>
                <a:srgbClr val="111827"/>
              </a:buClr>
              <a:buFont typeface="Symbol" charset="2"/>
              <a:buChar char=""/>
            </a:pPr>
            <a:r>
              <a:rPr lang="ru-RU" sz="2150" b="0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Клиенту нужен самостоятельный доступ к тренировкам и записям</a:t>
            </a:r>
            <a:endParaRPr lang="ru-RU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-180000">
              <a:lnSpc>
                <a:spcPct val="100000"/>
              </a:lnSpc>
              <a:buClr>
                <a:srgbClr val="111827"/>
              </a:buClr>
              <a:buFont typeface="Symbol" charset="2"/>
              <a:buChar char=""/>
            </a:pPr>
            <a:r>
              <a:rPr lang="ru-RU" sz="2150" b="0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Администрации нужны аналитика и централизованное управление</a:t>
            </a:r>
            <a:endParaRPr lang="ru-RU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Footer"/>
          <p:cNvSpPr/>
          <p:nvPr/>
        </p:nvSpPr>
        <p:spPr>
          <a:xfrm>
            <a:off x="10625400" y="6473880"/>
            <a:ext cx="639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0" tIns="114120" rIns="180000" bIns="11412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-RU" sz="3300" b="0" u="none" strike="noStrike">
                <a:solidFill>
                  <a:srgbClr val="64748B"/>
                </a:solidFill>
                <a:effectLst/>
                <a:uFillTx/>
                <a:latin typeface="Arial"/>
              </a:rPr>
              <a:t>2</a:t>
            </a:r>
            <a:endParaRPr lang="ru-R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Background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Header"/>
          <p:cNvSpPr/>
          <p:nvPr/>
        </p:nvSpPr>
        <p:spPr>
          <a:xfrm>
            <a:off x="0" y="0"/>
            <a:ext cx="12191760" cy="95976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Accent"/>
          <p:cNvSpPr/>
          <p:nvPr/>
        </p:nvSpPr>
        <p:spPr>
          <a:xfrm>
            <a:off x="0" y="960120"/>
            <a:ext cx="164160" cy="58975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Title"/>
          <p:cNvSpPr/>
          <p:nvPr/>
        </p:nvSpPr>
        <p:spPr>
          <a:xfrm>
            <a:off x="502920" y="201240"/>
            <a:ext cx="108810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0" tIns="119880" rIns="180000" bIns="11988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-RU" sz="33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Цель и задачи</a:t>
            </a:r>
            <a:endParaRPr lang="ru-R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Content"/>
          <p:cNvSpPr/>
          <p:nvPr/>
        </p:nvSpPr>
        <p:spPr>
          <a:xfrm>
            <a:off x="685800" y="1234440"/>
            <a:ext cx="10195200" cy="4891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00" tIns="119880" rIns="180000" bIns="119880" anchor="t">
            <a:noAutofit/>
          </a:bodyPr>
          <a:p>
            <a:pPr indent="-180000">
              <a:lnSpc>
                <a:spcPct val="100000"/>
              </a:lnSpc>
              <a:buClr>
                <a:srgbClr val="111827"/>
              </a:buClr>
              <a:buFont typeface="Symbol" charset="2"/>
              <a:buChar char=""/>
            </a:pPr>
            <a:r>
              <a:rPr lang="ru-RU" sz="2150" b="0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Цель: разработать и протестировать веб-систему управления фитнес-клубом</a:t>
            </a:r>
            <a:endParaRPr lang="ru-RU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-180000">
              <a:lnSpc>
                <a:spcPct val="100000"/>
              </a:lnSpc>
              <a:buClr>
                <a:srgbClr val="111827"/>
              </a:buClr>
              <a:buFont typeface="Symbol" charset="2"/>
              <a:buChar char=""/>
            </a:pPr>
            <a:r>
              <a:rPr lang="ru-RU" sz="2150" b="0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Проанализировать предметную область</a:t>
            </a:r>
            <a:endParaRPr lang="ru-RU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-180000">
              <a:lnSpc>
                <a:spcPct val="100000"/>
              </a:lnSpc>
              <a:buClr>
                <a:srgbClr val="111827"/>
              </a:buClr>
              <a:buFont typeface="Symbol" charset="2"/>
              <a:buChar char=""/>
            </a:pPr>
            <a:r>
              <a:rPr lang="ru-RU" sz="2150" b="0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Сформировать требования</a:t>
            </a:r>
            <a:endParaRPr lang="ru-RU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-180000">
              <a:lnSpc>
                <a:spcPct val="100000"/>
              </a:lnSpc>
              <a:buClr>
                <a:srgbClr val="111827"/>
              </a:buClr>
              <a:buFont typeface="Symbol" charset="2"/>
              <a:buChar char=""/>
            </a:pPr>
            <a:r>
              <a:rPr lang="ru-RU" sz="2150" b="0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Спроектировать архитектуру и БД</a:t>
            </a:r>
            <a:endParaRPr lang="ru-RU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-180000">
              <a:lnSpc>
                <a:spcPct val="100000"/>
              </a:lnSpc>
              <a:buClr>
                <a:srgbClr val="111827"/>
              </a:buClr>
              <a:buFont typeface="Symbol" charset="2"/>
              <a:buChar char=""/>
            </a:pPr>
            <a:r>
              <a:rPr lang="ru-RU" sz="2150" b="0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Реализовать модули пользователей, администратора, абонементов и отчетности</a:t>
            </a:r>
            <a:endParaRPr lang="ru-RU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-180000">
              <a:lnSpc>
                <a:spcPct val="100000"/>
              </a:lnSpc>
              <a:buClr>
                <a:srgbClr val="111827"/>
              </a:buClr>
              <a:buFont typeface="Symbol" charset="2"/>
              <a:buChar char=""/>
            </a:pPr>
            <a:r>
              <a:rPr lang="ru-RU" sz="2150" b="0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Провести тестирование</a:t>
            </a:r>
            <a:endParaRPr lang="ru-RU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Footer"/>
          <p:cNvSpPr/>
          <p:nvPr/>
        </p:nvSpPr>
        <p:spPr>
          <a:xfrm>
            <a:off x="10625400" y="6473880"/>
            <a:ext cx="639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0" tIns="114120" rIns="180000" bIns="11412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-RU" sz="3300" b="0" u="none" strike="noStrike">
                <a:solidFill>
                  <a:srgbClr val="64748B"/>
                </a:solidFill>
                <a:effectLst/>
                <a:uFillTx/>
                <a:latin typeface="Arial"/>
              </a:rPr>
              <a:t>3</a:t>
            </a:r>
            <a:endParaRPr lang="ru-R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Background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Header"/>
          <p:cNvSpPr/>
          <p:nvPr/>
        </p:nvSpPr>
        <p:spPr>
          <a:xfrm>
            <a:off x="0" y="0"/>
            <a:ext cx="12191760" cy="95976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Accent"/>
          <p:cNvSpPr/>
          <p:nvPr/>
        </p:nvSpPr>
        <p:spPr>
          <a:xfrm>
            <a:off x="0" y="960120"/>
            <a:ext cx="164160" cy="58975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Title"/>
          <p:cNvSpPr/>
          <p:nvPr/>
        </p:nvSpPr>
        <p:spPr>
          <a:xfrm>
            <a:off x="502920" y="201240"/>
            <a:ext cx="108810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0" tIns="119880" rIns="180000" bIns="11988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-RU" sz="33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Предметная область</a:t>
            </a:r>
            <a:endParaRPr lang="ru-R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Content"/>
          <p:cNvSpPr/>
          <p:nvPr/>
        </p:nvSpPr>
        <p:spPr>
          <a:xfrm>
            <a:off x="685800" y="1234440"/>
            <a:ext cx="10195200" cy="4891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00" tIns="119880" rIns="180000" bIns="119880" anchor="t">
            <a:noAutofit/>
          </a:bodyPr>
          <a:p>
            <a:pPr indent="-180000">
              <a:lnSpc>
                <a:spcPct val="100000"/>
              </a:lnSpc>
              <a:buClr>
                <a:srgbClr val="111827"/>
              </a:buClr>
              <a:buFont typeface="Symbol" charset="2"/>
              <a:buChar char=""/>
            </a:pPr>
            <a:r>
              <a:rPr lang="ru-RU" sz="2150" b="0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Участники: клиент, тренер, администратор</a:t>
            </a:r>
            <a:endParaRPr lang="ru-RU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-180000">
              <a:lnSpc>
                <a:spcPct val="100000"/>
              </a:lnSpc>
              <a:buClr>
                <a:srgbClr val="111827"/>
              </a:buClr>
              <a:buFont typeface="Symbol" charset="2"/>
              <a:buChar char=""/>
            </a:pPr>
            <a:r>
              <a:rPr lang="ru-RU" sz="2150" b="0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Процессы: регистрация, расписание, запись, абонементы, посещаемость</a:t>
            </a:r>
            <a:endParaRPr lang="ru-RU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-180000">
              <a:lnSpc>
                <a:spcPct val="100000"/>
              </a:lnSpc>
              <a:buClr>
                <a:srgbClr val="111827"/>
              </a:buClr>
              <a:buFont typeface="Symbol" charset="2"/>
              <a:buChar char=""/>
            </a:pPr>
            <a:r>
              <a:rPr lang="ru-RU" sz="2150" b="0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Ключевая сложность: взаимосвязь клиента, занятия, тренера и тарифа</a:t>
            </a:r>
            <a:endParaRPr lang="ru-RU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-180000">
              <a:lnSpc>
                <a:spcPct val="100000"/>
              </a:lnSpc>
              <a:buClr>
                <a:srgbClr val="111827"/>
              </a:buClr>
              <a:buFont typeface="Symbol" charset="2"/>
              <a:buChar char=""/>
            </a:pPr>
            <a:r>
              <a:rPr lang="ru-RU" sz="2150" b="0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Система должна поддерживать полный цикл обслуживания</a:t>
            </a:r>
            <a:endParaRPr lang="ru-RU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Footer"/>
          <p:cNvSpPr/>
          <p:nvPr/>
        </p:nvSpPr>
        <p:spPr>
          <a:xfrm>
            <a:off x="10625400" y="6473880"/>
            <a:ext cx="639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0" tIns="114120" rIns="180000" bIns="11412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-RU" sz="3300" b="0" u="none" strike="noStrike">
                <a:solidFill>
                  <a:srgbClr val="64748B"/>
                </a:solidFill>
                <a:effectLst/>
                <a:uFillTx/>
                <a:latin typeface="Arial"/>
              </a:rPr>
              <a:t>4</a:t>
            </a:r>
            <a:endParaRPr lang="ru-R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ackground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Header"/>
          <p:cNvSpPr/>
          <p:nvPr/>
        </p:nvSpPr>
        <p:spPr>
          <a:xfrm>
            <a:off x="0" y="0"/>
            <a:ext cx="12191760" cy="95976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Accent"/>
          <p:cNvSpPr/>
          <p:nvPr/>
        </p:nvSpPr>
        <p:spPr>
          <a:xfrm>
            <a:off x="0" y="960120"/>
            <a:ext cx="164160" cy="58975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Title"/>
          <p:cNvSpPr/>
          <p:nvPr/>
        </p:nvSpPr>
        <p:spPr>
          <a:xfrm>
            <a:off x="502920" y="201240"/>
            <a:ext cx="108810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0" tIns="119880" rIns="180000" bIns="11988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-RU" sz="33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Требования к системе</a:t>
            </a:r>
            <a:endParaRPr lang="ru-R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Content"/>
          <p:cNvSpPr/>
          <p:nvPr/>
        </p:nvSpPr>
        <p:spPr>
          <a:xfrm>
            <a:off x="685800" y="1234440"/>
            <a:ext cx="10195200" cy="4891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00" tIns="119880" rIns="180000" bIns="119880" anchor="t">
            <a:noAutofit/>
          </a:bodyPr>
          <a:p>
            <a:pPr indent="-180000">
              <a:lnSpc>
                <a:spcPct val="100000"/>
              </a:lnSpc>
              <a:buClr>
                <a:srgbClr val="111827"/>
              </a:buClr>
              <a:buFont typeface="Symbol" charset="2"/>
              <a:buChar char=""/>
            </a:pPr>
            <a:r>
              <a:rPr lang="ru-RU" sz="2150" b="0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Регистрация и авторизация пользователей</a:t>
            </a:r>
            <a:endParaRPr lang="ru-RU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-180000">
              <a:lnSpc>
                <a:spcPct val="100000"/>
              </a:lnSpc>
              <a:buClr>
                <a:srgbClr val="111827"/>
              </a:buClr>
              <a:buFont typeface="Symbol" charset="2"/>
              <a:buChar char=""/>
            </a:pPr>
            <a:r>
              <a:rPr lang="ru-RU" sz="2150" b="0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Просмотр тренировок и тренеров</a:t>
            </a:r>
            <a:endParaRPr lang="ru-RU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-180000">
              <a:lnSpc>
                <a:spcPct val="100000"/>
              </a:lnSpc>
              <a:buClr>
                <a:srgbClr val="111827"/>
              </a:buClr>
              <a:buFont typeface="Symbol" charset="2"/>
              <a:buChar char=""/>
            </a:pPr>
            <a:r>
              <a:rPr lang="ru-RU" sz="2150" b="0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Запись и отмена записи на занятие</a:t>
            </a:r>
            <a:endParaRPr lang="ru-RU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-180000">
              <a:lnSpc>
                <a:spcPct val="100000"/>
              </a:lnSpc>
              <a:buClr>
                <a:srgbClr val="111827"/>
              </a:buClr>
              <a:buFont typeface="Symbol" charset="2"/>
              <a:buChar char=""/>
            </a:pPr>
            <a:r>
              <a:rPr lang="ru-RU" sz="2150" b="0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Покупка, продление и заморозка абонемента</a:t>
            </a:r>
            <a:endParaRPr lang="ru-RU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-180000">
              <a:lnSpc>
                <a:spcPct val="100000"/>
              </a:lnSpc>
              <a:buClr>
                <a:srgbClr val="111827"/>
              </a:buClr>
              <a:buFont typeface="Symbol" charset="2"/>
              <a:buChar char=""/>
            </a:pPr>
            <a:r>
              <a:rPr lang="ru-RU" sz="2150" b="0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Административное управление справочниками</a:t>
            </a:r>
            <a:endParaRPr lang="ru-RU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-180000">
              <a:lnSpc>
                <a:spcPct val="100000"/>
              </a:lnSpc>
              <a:buClr>
                <a:srgbClr val="111827"/>
              </a:buClr>
              <a:buFont typeface="Symbol" charset="2"/>
              <a:buChar char=""/>
            </a:pPr>
            <a:r>
              <a:rPr lang="ru-RU" sz="2150" b="0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Аналитика и экспорт отчетов</a:t>
            </a:r>
            <a:endParaRPr lang="ru-RU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Footer"/>
          <p:cNvSpPr/>
          <p:nvPr/>
        </p:nvSpPr>
        <p:spPr>
          <a:xfrm>
            <a:off x="10625400" y="6473880"/>
            <a:ext cx="639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0" tIns="114120" rIns="180000" bIns="11412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-RU" sz="3300" b="0" u="none" strike="noStrike">
                <a:solidFill>
                  <a:srgbClr val="64748B"/>
                </a:solidFill>
                <a:effectLst/>
                <a:uFillTx/>
                <a:latin typeface="Arial"/>
              </a:rPr>
              <a:t>5</a:t>
            </a:r>
            <a:endParaRPr lang="ru-R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Background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Header"/>
          <p:cNvSpPr/>
          <p:nvPr/>
        </p:nvSpPr>
        <p:spPr>
          <a:xfrm>
            <a:off x="0" y="0"/>
            <a:ext cx="12191760" cy="95976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Accent"/>
          <p:cNvSpPr/>
          <p:nvPr/>
        </p:nvSpPr>
        <p:spPr>
          <a:xfrm>
            <a:off x="0" y="960120"/>
            <a:ext cx="164160" cy="58975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Title"/>
          <p:cNvSpPr/>
          <p:nvPr/>
        </p:nvSpPr>
        <p:spPr>
          <a:xfrm>
            <a:off x="502920" y="201240"/>
            <a:ext cx="108810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0" tIns="119880" rIns="180000" bIns="11988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-RU" sz="33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Технологический стек</a:t>
            </a:r>
            <a:endParaRPr lang="ru-R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Content"/>
          <p:cNvSpPr/>
          <p:nvPr/>
        </p:nvSpPr>
        <p:spPr>
          <a:xfrm>
            <a:off x="685800" y="1234440"/>
            <a:ext cx="10195200" cy="4891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00" tIns="119880" rIns="180000" bIns="119880" anchor="t">
            <a:noAutofit/>
          </a:bodyPr>
          <a:p>
            <a:pPr indent="-180000">
              <a:lnSpc>
                <a:spcPct val="100000"/>
              </a:lnSpc>
              <a:buClr>
                <a:srgbClr val="111827"/>
              </a:buClr>
              <a:buFont typeface="Symbol" charset="2"/>
              <a:buChar char=""/>
            </a:pPr>
            <a:r>
              <a:rPr lang="ru-RU" sz="2150" b="0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Python и Flask — серверная часть</a:t>
            </a:r>
            <a:endParaRPr lang="ru-RU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-180000">
              <a:lnSpc>
                <a:spcPct val="100000"/>
              </a:lnSpc>
              <a:buClr>
                <a:srgbClr val="111827"/>
              </a:buClr>
              <a:buFont typeface="Symbol" charset="2"/>
              <a:buChar char=""/>
            </a:pPr>
            <a:r>
              <a:rPr lang="ru-RU" sz="2150" b="0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SQLite и SQLAlchemy — хранение данных</a:t>
            </a:r>
            <a:endParaRPr lang="ru-RU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-180000">
              <a:lnSpc>
                <a:spcPct val="100000"/>
              </a:lnSpc>
              <a:buClr>
                <a:srgbClr val="111827"/>
              </a:buClr>
              <a:buFont typeface="Symbol" charset="2"/>
              <a:buChar char=""/>
            </a:pPr>
            <a:r>
              <a:rPr lang="ru-RU" sz="2150" b="0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Flask-Login — авторизация</a:t>
            </a:r>
            <a:endParaRPr lang="ru-RU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-180000">
              <a:lnSpc>
                <a:spcPct val="100000"/>
              </a:lnSpc>
              <a:buClr>
                <a:srgbClr val="111827"/>
              </a:buClr>
              <a:buFont typeface="Symbol" charset="2"/>
              <a:buChar char=""/>
            </a:pPr>
            <a:r>
              <a:rPr lang="ru-RU" sz="2150" b="0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Flask-WTF и WTForms — формы</a:t>
            </a:r>
            <a:endParaRPr lang="ru-RU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-180000">
              <a:lnSpc>
                <a:spcPct val="100000"/>
              </a:lnSpc>
              <a:buClr>
                <a:srgbClr val="111827"/>
              </a:buClr>
              <a:buFont typeface="Symbol" charset="2"/>
              <a:buChar char=""/>
            </a:pPr>
            <a:r>
              <a:rPr lang="ru-RU" sz="2150" b="0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Flask-Mail — уведомления</a:t>
            </a:r>
            <a:endParaRPr lang="ru-RU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-180000">
              <a:lnSpc>
                <a:spcPct val="100000"/>
              </a:lnSpc>
              <a:buClr>
                <a:srgbClr val="111827"/>
              </a:buClr>
              <a:buFont typeface="Symbol" charset="2"/>
              <a:buChar char=""/>
            </a:pPr>
            <a:r>
              <a:rPr lang="ru-RU" sz="2150" b="0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ReportLab и XlsxWriter — отчеты</a:t>
            </a:r>
            <a:endParaRPr lang="ru-RU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-180000">
              <a:lnSpc>
                <a:spcPct val="100000"/>
              </a:lnSpc>
              <a:buClr>
                <a:srgbClr val="111827"/>
              </a:buClr>
              <a:buFont typeface="Symbol" charset="2"/>
              <a:buChar char=""/>
            </a:pPr>
            <a:r>
              <a:rPr lang="ru-RU" sz="2150" b="0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pytest — тестирование</a:t>
            </a:r>
            <a:endParaRPr lang="ru-RU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Footer"/>
          <p:cNvSpPr/>
          <p:nvPr/>
        </p:nvSpPr>
        <p:spPr>
          <a:xfrm>
            <a:off x="10625400" y="6473880"/>
            <a:ext cx="639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0" tIns="114120" rIns="180000" bIns="11412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-RU" sz="3300" b="0" u="none" strike="noStrike">
                <a:solidFill>
                  <a:srgbClr val="64748B"/>
                </a:solidFill>
                <a:effectLst/>
                <a:uFillTx/>
                <a:latin typeface="Arial"/>
              </a:rPr>
              <a:t>6</a:t>
            </a:r>
            <a:endParaRPr lang="ru-R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Background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Header"/>
          <p:cNvSpPr/>
          <p:nvPr/>
        </p:nvSpPr>
        <p:spPr>
          <a:xfrm>
            <a:off x="0" y="0"/>
            <a:ext cx="12191760" cy="95976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Accent"/>
          <p:cNvSpPr/>
          <p:nvPr/>
        </p:nvSpPr>
        <p:spPr>
          <a:xfrm>
            <a:off x="0" y="960120"/>
            <a:ext cx="164160" cy="58975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Title"/>
          <p:cNvSpPr/>
          <p:nvPr/>
        </p:nvSpPr>
        <p:spPr>
          <a:xfrm>
            <a:off x="502920" y="201240"/>
            <a:ext cx="108810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0" tIns="119880" rIns="180000" bIns="11988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-RU" sz="33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Архитектура проекта</a:t>
            </a:r>
            <a:endParaRPr lang="ru-R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Content"/>
          <p:cNvSpPr/>
          <p:nvPr/>
        </p:nvSpPr>
        <p:spPr>
          <a:xfrm>
            <a:off x="685800" y="1234440"/>
            <a:ext cx="5531760" cy="4891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00" tIns="119880" rIns="180000" bIns="119880" anchor="t">
            <a:noAutofit/>
          </a:bodyPr>
          <a:p>
            <a:pPr indent="-180000">
              <a:lnSpc>
                <a:spcPct val="100000"/>
              </a:lnSpc>
              <a:buClr>
                <a:srgbClr val="111827"/>
              </a:buClr>
              <a:buFont typeface="Symbol" charset="2"/>
              <a:buChar char=""/>
            </a:pPr>
            <a:r>
              <a:rPr lang="ru-RU" sz="2150" b="0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Приложение разделено на слои</a:t>
            </a:r>
            <a:endParaRPr lang="ru-RU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-180000">
              <a:lnSpc>
                <a:spcPct val="100000"/>
              </a:lnSpc>
              <a:buClr>
                <a:srgbClr val="111827"/>
              </a:buClr>
              <a:buFont typeface="Symbol" charset="2"/>
              <a:buChar char=""/>
            </a:pPr>
            <a:r>
              <a:rPr lang="ru-RU" sz="2150" b="0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controllers — маршруты</a:t>
            </a:r>
            <a:endParaRPr lang="ru-RU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-180000">
              <a:lnSpc>
                <a:spcPct val="100000"/>
              </a:lnSpc>
              <a:buClr>
                <a:srgbClr val="111827"/>
              </a:buClr>
              <a:buFont typeface="Symbol" charset="2"/>
              <a:buChar char=""/>
            </a:pPr>
            <a:r>
              <a:rPr lang="ru-RU" sz="2150" b="0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models — сущности БД</a:t>
            </a:r>
            <a:endParaRPr lang="ru-RU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-180000">
              <a:lnSpc>
                <a:spcPct val="100000"/>
              </a:lnSpc>
              <a:buClr>
                <a:srgbClr val="111827"/>
              </a:buClr>
              <a:buFont typeface="Symbol" charset="2"/>
              <a:buChar char=""/>
            </a:pPr>
            <a:r>
              <a:rPr lang="ru-RU" sz="2150" b="0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forms — проверка ввода</a:t>
            </a:r>
            <a:endParaRPr lang="ru-RU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-180000">
              <a:lnSpc>
                <a:spcPct val="100000"/>
              </a:lnSpc>
              <a:buClr>
                <a:srgbClr val="111827"/>
              </a:buClr>
              <a:buFont typeface="Symbol" charset="2"/>
              <a:buChar char=""/>
            </a:pPr>
            <a:r>
              <a:rPr lang="ru-RU" sz="2150" b="0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services — уведомления и отчеты</a:t>
            </a:r>
            <a:endParaRPr lang="ru-RU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-180000">
              <a:lnSpc>
                <a:spcPct val="100000"/>
              </a:lnSpc>
              <a:buClr>
                <a:srgbClr val="111827"/>
              </a:buClr>
              <a:buFont typeface="Symbol" charset="2"/>
              <a:buChar char=""/>
            </a:pPr>
            <a:r>
              <a:rPr lang="ru-RU" sz="2150" b="0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templates/static — интерфейс</a:t>
            </a:r>
            <a:endParaRPr lang="ru-RU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ImageFrame"/>
          <p:cNvSpPr/>
          <p:nvPr/>
        </p:nvSpPr>
        <p:spPr>
          <a:xfrm>
            <a:off x="6400800" y="1207080"/>
            <a:ext cx="4891680" cy="4800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0" name="diagrams/project_structure.png"/>
          <p:cNvPicPr/>
          <p:nvPr/>
        </p:nvPicPr>
        <p:blipFill>
          <a:blip r:embed="rId1"/>
          <a:stretch/>
        </p:blipFill>
        <p:spPr>
          <a:xfrm>
            <a:off x="6537960" y="1854360"/>
            <a:ext cx="4754520" cy="3725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" name="Footer"/>
          <p:cNvSpPr/>
          <p:nvPr/>
        </p:nvSpPr>
        <p:spPr>
          <a:xfrm>
            <a:off x="10625400" y="6473880"/>
            <a:ext cx="639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0" tIns="114120" rIns="180000" bIns="11412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-RU" sz="3300" b="0" u="none" strike="noStrike">
                <a:solidFill>
                  <a:srgbClr val="64748B"/>
                </a:solidFill>
                <a:effectLst/>
                <a:uFillTx/>
                <a:latin typeface="Arial"/>
              </a:rPr>
              <a:t>7</a:t>
            </a:r>
            <a:endParaRPr lang="ru-R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ackground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Header"/>
          <p:cNvSpPr/>
          <p:nvPr/>
        </p:nvSpPr>
        <p:spPr>
          <a:xfrm>
            <a:off x="0" y="0"/>
            <a:ext cx="12191760" cy="95976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Accent"/>
          <p:cNvSpPr/>
          <p:nvPr/>
        </p:nvSpPr>
        <p:spPr>
          <a:xfrm>
            <a:off x="0" y="960120"/>
            <a:ext cx="164160" cy="58975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Title"/>
          <p:cNvSpPr/>
          <p:nvPr/>
        </p:nvSpPr>
        <p:spPr>
          <a:xfrm>
            <a:off x="502920" y="201240"/>
            <a:ext cx="108810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0" tIns="119880" rIns="180000" bIns="11988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-RU" sz="33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База данных</a:t>
            </a:r>
            <a:endParaRPr lang="ru-R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Content"/>
          <p:cNvSpPr/>
          <p:nvPr/>
        </p:nvSpPr>
        <p:spPr>
          <a:xfrm>
            <a:off x="685800" y="1234440"/>
            <a:ext cx="5531760" cy="4891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00" tIns="119880" rIns="180000" bIns="119880" anchor="t">
            <a:noAutofit/>
          </a:bodyPr>
          <a:p>
            <a:pPr indent="-180000">
              <a:lnSpc>
                <a:spcPct val="100000"/>
              </a:lnSpc>
              <a:buClr>
                <a:srgbClr val="111827"/>
              </a:buClr>
              <a:buFont typeface="Symbol" charset="2"/>
              <a:buChar char=""/>
            </a:pPr>
            <a:r>
              <a:rPr lang="ru-RU" sz="2150" b="0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User — пользователь и роль</a:t>
            </a:r>
            <a:endParaRPr lang="ru-RU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-180000">
              <a:lnSpc>
                <a:spcPct val="100000"/>
              </a:lnSpc>
              <a:buClr>
                <a:srgbClr val="111827"/>
              </a:buClr>
              <a:buFont typeface="Symbol" charset="2"/>
              <a:buChar char=""/>
            </a:pPr>
            <a:r>
              <a:rPr lang="ru-RU" sz="2150" b="0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Trainer — тренер</a:t>
            </a:r>
            <a:endParaRPr lang="ru-RU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-180000">
              <a:lnSpc>
                <a:spcPct val="100000"/>
              </a:lnSpc>
              <a:buClr>
                <a:srgbClr val="111827"/>
              </a:buClr>
              <a:buFont typeface="Symbol" charset="2"/>
              <a:buChar char=""/>
            </a:pPr>
            <a:r>
              <a:rPr lang="ru-RU" sz="2150" b="0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WorkoutType — тип занятия</a:t>
            </a:r>
            <a:endParaRPr lang="ru-RU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-180000">
              <a:lnSpc>
                <a:spcPct val="100000"/>
              </a:lnSpc>
              <a:buClr>
                <a:srgbClr val="111827"/>
              </a:buClr>
              <a:buFont typeface="Symbol" charset="2"/>
              <a:buChar char=""/>
            </a:pPr>
            <a:r>
              <a:rPr lang="ru-RU" sz="2150" b="0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Workout — тренировка в расписании</a:t>
            </a:r>
            <a:endParaRPr lang="ru-RU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-180000">
              <a:lnSpc>
                <a:spcPct val="100000"/>
              </a:lnSpc>
              <a:buClr>
                <a:srgbClr val="111827"/>
              </a:buClr>
              <a:buFont typeface="Symbol" charset="2"/>
              <a:buChar char=""/>
            </a:pPr>
            <a:r>
              <a:rPr lang="ru-RU" sz="2150" b="0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Booking — запись пользователя</a:t>
            </a:r>
            <a:endParaRPr lang="ru-RU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-180000">
              <a:lnSpc>
                <a:spcPct val="100000"/>
              </a:lnSpc>
              <a:buClr>
                <a:srgbClr val="111827"/>
              </a:buClr>
              <a:buFont typeface="Symbol" charset="2"/>
              <a:buChar char=""/>
            </a:pPr>
            <a:r>
              <a:rPr lang="ru-RU" sz="2150" b="0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Abonement и UserAbonement — тарифы и покупки</a:t>
            </a:r>
            <a:endParaRPr lang="ru-RU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ImageFrame"/>
          <p:cNvSpPr/>
          <p:nvPr/>
        </p:nvSpPr>
        <p:spPr>
          <a:xfrm>
            <a:off x="6400800" y="1207080"/>
            <a:ext cx="4891680" cy="4800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8" name="diagrams/er_diagram.png"/>
          <p:cNvPicPr/>
          <p:nvPr/>
        </p:nvPicPr>
        <p:blipFill>
          <a:blip r:embed="rId1"/>
          <a:stretch/>
        </p:blipFill>
        <p:spPr>
          <a:xfrm>
            <a:off x="6473880" y="1353240"/>
            <a:ext cx="3423240" cy="4480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" name="Footer"/>
          <p:cNvSpPr/>
          <p:nvPr/>
        </p:nvSpPr>
        <p:spPr>
          <a:xfrm>
            <a:off x="10625400" y="6473880"/>
            <a:ext cx="639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0" tIns="114120" rIns="180000" bIns="11412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-RU" sz="3300" b="0" u="none" strike="noStrike">
                <a:solidFill>
                  <a:srgbClr val="64748B"/>
                </a:solidFill>
                <a:effectLst/>
                <a:uFillTx/>
                <a:latin typeface="Arial"/>
              </a:rPr>
              <a:t>8</a:t>
            </a:r>
            <a:endParaRPr lang="ru-R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Background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Header"/>
          <p:cNvSpPr/>
          <p:nvPr/>
        </p:nvSpPr>
        <p:spPr>
          <a:xfrm>
            <a:off x="0" y="0"/>
            <a:ext cx="12191760" cy="95976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Accent"/>
          <p:cNvSpPr/>
          <p:nvPr/>
        </p:nvSpPr>
        <p:spPr>
          <a:xfrm>
            <a:off x="0" y="960120"/>
            <a:ext cx="164160" cy="58975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itle"/>
          <p:cNvSpPr/>
          <p:nvPr/>
        </p:nvSpPr>
        <p:spPr>
          <a:xfrm>
            <a:off x="502920" y="201240"/>
            <a:ext cx="108810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0" tIns="119880" rIns="180000" bIns="11988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-RU" sz="33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Пользовательский сценарий</a:t>
            </a:r>
            <a:endParaRPr lang="ru-R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Content"/>
          <p:cNvSpPr/>
          <p:nvPr/>
        </p:nvSpPr>
        <p:spPr>
          <a:xfrm>
            <a:off x="685800" y="1234440"/>
            <a:ext cx="10195200" cy="4891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00" tIns="119880" rIns="180000" bIns="119880" anchor="t">
            <a:noAutofit/>
          </a:bodyPr>
          <a:p>
            <a:pPr indent="-180000">
              <a:lnSpc>
                <a:spcPct val="100000"/>
              </a:lnSpc>
              <a:buClr>
                <a:srgbClr val="111827"/>
              </a:buClr>
              <a:buFont typeface="Symbol" charset="2"/>
              <a:buChar char=""/>
            </a:pPr>
            <a:r>
              <a:rPr lang="ru-RU" sz="2150" b="0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Регистрация и вход</a:t>
            </a:r>
            <a:endParaRPr lang="ru-RU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-180000">
              <a:lnSpc>
                <a:spcPct val="100000"/>
              </a:lnSpc>
              <a:buClr>
                <a:srgbClr val="111827"/>
              </a:buClr>
              <a:buFont typeface="Symbol" charset="2"/>
              <a:buChar char=""/>
            </a:pPr>
            <a:r>
              <a:rPr lang="ru-RU" sz="2150" b="0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Просмотр расписания</a:t>
            </a:r>
            <a:endParaRPr lang="ru-RU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-180000">
              <a:lnSpc>
                <a:spcPct val="100000"/>
              </a:lnSpc>
              <a:buClr>
                <a:srgbClr val="111827"/>
              </a:buClr>
              <a:buFont typeface="Symbol" charset="2"/>
              <a:buChar char=""/>
            </a:pPr>
            <a:r>
              <a:rPr lang="ru-RU" sz="2150" b="0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Фильтрация тренировок</a:t>
            </a:r>
            <a:endParaRPr lang="ru-RU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-180000">
              <a:lnSpc>
                <a:spcPct val="100000"/>
              </a:lnSpc>
              <a:buClr>
                <a:srgbClr val="111827"/>
              </a:buClr>
              <a:buFont typeface="Symbol" charset="2"/>
              <a:buChar char=""/>
            </a:pPr>
            <a:r>
              <a:rPr lang="ru-RU" sz="2150" b="0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Просмотр карточки тренера</a:t>
            </a:r>
            <a:endParaRPr lang="ru-RU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-180000">
              <a:lnSpc>
                <a:spcPct val="100000"/>
              </a:lnSpc>
              <a:buClr>
                <a:srgbClr val="111827"/>
              </a:buClr>
              <a:buFont typeface="Symbol" charset="2"/>
              <a:buChar char=""/>
            </a:pPr>
            <a:r>
              <a:rPr lang="ru-RU" sz="2150" b="0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Запись на занятие</a:t>
            </a:r>
            <a:endParaRPr lang="ru-RU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-180000">
              <a:lnSpc>
                <a:spcPct val="100000"/>
              </a:lnSpc>
              <a:buClr>
                <a:srgbClr val="111827"/>
              </a:buClr>
              <a:buFont typeface="Symbol" charset="2"/>
              <a:buChar char=""/>
            </a:pPr>
            <a:r>
              <a:rPr lang="ru-RU" sz="2150" b="0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Просмотр личного расписания</a:t>
            </a:r>
            <a:endParaRPr lang="ru-RU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-180000">
              <a:lnSpc>
                <a:spcPct val="100000"/>
              </a:lnSpc>
              <a:buClr>
                <a:srgbClr val="111827"/>
              </a:buClr>
              <a:buFont typeface="Symbol" charset="2"/>
              <a:buChar char=""/>
            </a:pPr>
            <a:r>
              <a:rPr lang="ru-RU" sz="2150" b="0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Работа с абонементом</a:t>
            </a:r>
            <a:endParaRPr lang="ru-RU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Footer"/>
          <p:cNvSpPr/>
          <p:nvPr/>
        </p:nvSpPr>
        <p:spPr>
          <a:xfrm>
            <a:off x="10625400" y="6473880"/>
            <a:ext cx="639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0" tIns="114120" rIns="180000" bIns="11412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-RU" sz="3300" b="0" u="none" strike="noStrike">
                <a:solidFill>
                  <a:srgbClr val="64748B"/>
                </a:solidFill>
                <a:effectLst/>
                <a:uFillTx/>
                <a:latin typeface="Arial"/>
              </a:rPr>
              <a:t>9</a:t>
            </a:r>
            <a:endParaRPr lang="ru-R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Background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Header"/>
          <p:cNvSpPr/>
          <p:nvPr/>
        </p:nvSpPr>
        <p:spPr>
          <a:xfrm>
            <a:off x="0" y="0"/>
            <a:ext cx="12191760" cy="95976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Accent"/>
          <p:cNvSpPr/>
          <p:nvPr/>
        </p:nvSpPr>
        <p:spPr>
          <a:xfrm>
            <a:off x="0" y="960120"/>
            <a:ext cx="164160" cy="58975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itle"/>
          <p:cNvSpPr/>
          <p:nvPr/>
        </p:nvSpPr>
        <p:spPr>
          <a:xfrm>
            <a:off x="502920" y="201240"/>
            <a:ext cx="108810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0" tIns="119880" rIns="180000" bIns="11988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-RU" sz="33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Административный сценарий</a:t>
            </a:r>
            <a:endParaRPr lang="ru-R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Content"/>
          <p:cNvSpPr/>
          <p:nvPr/>
        </p:nvSpPr>
        <p:spPr>
          <a:xfrm>
            <a:off x="685800" y="1234440"/>
            <a:ext cx="5531760" cy="4891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00" tIns="119880" rIns="180000" bIns="119880" anchor="t">
            <a:noAutofit/>
          </a:bodyPr>
          <a:p>
            <a:pPr indent="-180000">
              <a:lnSpc>
                <a:spcPct val="100000"/>
              </a:lnSpc>
              <a:buClr>
                <a:srgbClr val="111827"/>
              </a:buClr>
              <a:buFont typeface="Symbol" charset="2"/>
              <a:buChar char=""/>
            </a:pPr>
            <a:r>
              <a:rPr lang="ru-RU" sz="2150" b="0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Вход администратора</a:t>
            </a:r>
            <a:endParaRPr lang="ru-RU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-180000">
              <a:lnSpc>
                <a:spcPct val="100000"/>
              </a:lnSpc>
              <a:buClr>
                <a:srgbClr val="111827"/>
              </a:buClr>
              <a:buFont typeface="Symbol" charset="2"/>
              <a:buChar char=""/>
            </a:pPr>
            <a:r>
              <a:rPr lang="ru-RU" sz="2150" b="0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Управление тренерами</a:t>
            </a:r>
            <a:endParaRPr lang="ru-RU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-180000">
              <a:lnSpc>
                <a:spcPct val="100000"/>
              </a:lnSpc>
              <a:buClr>
                <a:srgbClr val="111827"/>
              </a:buClr>
              <a:buFont typeface="Symbol" charset="2"/>
              <a:buChar char=""/>
            </a:pPr>
            <a:r>
              <a:rPr lang="ru-RU" sz="2150" b="0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Управление типами тренировок</a:t>
            </a:r>
            <a:endParaRPr lang="ru-RU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-180000">
              <a:lnSpc>
                <a:spcPct val="100000"/>
              </a:lnSpc>
              <a:buClr>
                <a:srgbClr val="111827"/>
              </a:buClr>
              <a:buFont typeface="Symbol" charset="2"/>
              <a:buChar char=""/>
            </a:pPr>
            <a:r>
              <a:rPr lang="ru-RU" sz="2150" b="0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Формирование расписания</a:t>
            </a:r>
            <a:endParaRPr lang="ru-RU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-180000">
              <a:lnSpc>
                <a:spcPct val="100000"/>
              </a:lnSpc>
              <a:buClr>
                <a:srgbClr val="111827"/>
              </a:buClr>
              <a:buFont typeface="Symbol" charset="2"/>
              <a:buChar char=""/>
            </a:pPr>
            <a:r>
              <a:rPr lang="ru-RU" sz="2150" b="0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Управление пользователями</a:t>
            </a:r>
            <a:endParaRPr lang="ru-RU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-180000">
              <a:lnSpc>
                <a:spcPct val="100000"/>
              </a:lnSpc>
              <a:buClr>
                <a:srgbClr val="111827"/>
              </a:buClr>
              <a:buFont typeface="Symbol" charset="2"/>
              <a:buChar char=""/>
            </a:pPr>
            <a:r>
              <a:rPr lang="ru-RU" sz="2150" b="0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Управление абонементами</a:t>
            </a:r>
            <a:endParaRPr lang="ru-RU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-180000">
              <a:lnSpc>
                <a:spcPct val="100000"/>
              </a:lnSpc>
              <a:buClr>
                <a:srgbClr val="111827"/>
              </a:buClr>
              <a:buFont typeface="Symbol" charset="2"/>
              <a:buChar char=""/>
            </a:pPr>
            <a:r>
              <a:rPr lang="ru-RU" sz="2150" b="0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Просмотр аналитики</a:t>
            </a:r>
            <a:endParaRPr lang="ru-RU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ImageFrame"/>
          <p:cNvSpPr/>
          <p:nvPr/>
        </p:nvSpPr>
        <p:spPr>
          <a:xfrm>
            <a:off x="6400800" y="1207080"/>
            <a:ext cx="4891680" cy="4800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2" name="diagrams/Controllers Class Diagram.png"/>
          <p:cNvPicPr/>
          <p:nvPr/>
        </p:nvPicPr>
        <p:blipFill>
          <a:blip r:embed="rId1"/>
          <a:stretch/>
        </p:blipFill>
        <p:spPr>
          <a:xfrm>
            <a:off x="6473880" y="1353240"/>
            <a:ext cx="4754520" cy="2414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" name="Footer"/>
          <p:cNvSpPr/>
          <p:nvPr/>
        </p:nvSpPr>
        <p:spPr>
          <a:xfrm>
            <a:off x="10625400" y="6473880"/>
            <a:ext cx="639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0" tIns="114120" rIns="180000" bIns="11412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-RU" sz="3300" b="0" u="none" strike="noStrike">
                <a:solidFill>
                  <a:srgbClr val="64748B"/>
                </a:solidFill>
                <a:effectLst/>
                <a:uFillTx/>
                <a:latin typeface="Arial"/>
              </a:rPr>
              <a:t>10</a:t>
            </a:r>
            <a:endParaRPr lang="ru-R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Background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Header"/>
          <p:cNvSpPr/>
          <p:nvPr/>
        </p:nvSpPr>
        <p:spPr>
          <a:xfrm>
            <a:off x="0" y="0"/>
            <a:ext cx="12191760" cy="95976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Accent"/>
          <p:cNvSpPr/>
          <p:nvPr/>
        </p:nvSpPr>
        <p:spPr>
          <a:xfrm>
            <a:off x="0" y="960120"/>
            <a:ext cx="164160" cy="58975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itle"/>
          <p:cNvSpPr/>
          <p:nvPr/>
        </p:nvSpPr>
        <p:spPr>
          <a:xfrm>
            <a:off x="502920" y="201240"/>
            <a:ext cx="108810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0" tIns="119880" rIns="180000" bIns="11988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-RU" sz="33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Абонементы и уведомления</a:t>
            </a:r>
            <a:endParaRPr lang="ru-R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Content"/>
          <p:cNvSpPr/>
          <p:nvPr/>
        </p:nvSpPr>
        <p:spPr>
          <a:xfrm>
            <a:off x="685800" y="1234440"/>
            <a:ext cx="5531760" cy="4891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00" tIns="119880" rIns="180000" bIns="119880" anchor="t">
            <a:noAutofit/>
          </a:bodyPr>
          <a:p>
            <a:pPr indent="-180000">
              <a:lnSpc>
                <a:spcPct val="100000"/>
              </a:lnSpc>
              <a:buClr>
                <a:srgbClr val="111827"/>
              </a:buClr>
              <a:buFont typeface="Symbol" charset="2"/>
              <a:buChar char=""/>
            </a:pPr>
            <a:r>
              <a:rPr lang="ru-RU" sz="2150" b="0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Каталог тарифов</a:t>
            </a:r>
            <a:endParaRPr lang="ru-RU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-180000">
              <a:lnSpc>
                <a:spcPct val="100000"/>
              </a:lnSpc>
              <a:buClr>
                <a:srgbClr val="111827"/>
              </a:buClr>
              <a:buFont typeface="Symbol" charset="2"/>
              <a:buChar char=""/>
            </a:pPr>
            <a:r>
              <a:rPr lang="ru-RU" sz="2150" b="0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Покупка абонемента</a:t>
            </a:r>
            <a:endParaRPr lang="ru-RU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-180000">
              <a:lnSpc>
                <a:spcPct val="100000"/>
              </a:lnSpc>
              <a:buClr>
                <a:srgbClr val="111827"/>
              </a:buClr>
              <a:buFont typeface="Symbol" charset="2"/>
              <a:buChar char=""/>
            </a:pPr>
            <a:r>
              <a:rPr lang="ru-RU" sz="2150" b="0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Расчет срока действия и остатка посещений</a:t>
            </a:r>
            <a:endParaRPr lang="ru-RU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-180000">
              <a:lnSpc>
                <a:spcPct val="100000"/>
              </a:lnSpc>
              <a:buClr>
                <a:srgbClr val="111827"/>
              </a:buClr>
              <a:buFont typeface="Symbol" charset="2"/>
              <a:buChar char=""/>
            </a:pPr>
            <a:r>
              <a:rPr lang="ru-RU" sz="2150" b="0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Продление и заморозка</a:t>
            </a:r>
            <a:endParaRPr lang="ru-RU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-180000">
              <a:lnSpc>
                <a:spcPct val="100000"/>
              </a:lnSpc>
              <a:buClr>
                <a:srgbClr val="111827"/>
              </a:buClr>
              <a:buFont typeface="Symbol" charset="2"/>
              <a:buChar char=""/>
            </a:pPr>
            <a:r>
              <a:rPr lang="ru-RU" sz="2150" b="0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Уведомления о тренировках и состоянии абонемента</a:t>
            </a:r>
            <a:endParaRPr lang="ru-RU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ImageFrame"/>
          <p:cNvSpPr/>
          <p:nvPr/>
        </p:nvSpPr>
        <p:spPr>
          <a:xfrm>
            <a:off x="6400800" y="1207080"/>
            <a:ext cx="4891680" cy="4800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0" name="diagrams/services_class.png"/>
          <p:cNvPicPr/>
          <p:nvPr/>
        </p:nvPicPr>
        <p:blipFill>
          <a:blip r:embed="rId1"/>
          <a:stretch/>
        </p:blipFill>
        <p:spPr>
          <a:xfrm>
            <a:off x="6473880" y="1353240"/>
            <a:ext cx="4754520" cy="323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" name="Footer"/>
          <p:cNvSpPr/>
          <p:nvPr/>
        </p:nvSpPr>
        <p:spPr>
          <a:xfrm>
            <a:off x="10625400" y="6473880"/>
            <a:ext cx="639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0" tIns="114120" rIns="180000" bIns="11412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-RU" sz="3300" b="0" u="none" strike="noStrike">
                <a:solidFill>
                  <a:srgbClr val="64748B"/>
                </a:solidFill>
                <a:effectLst/>
                <a:uFillTx/>
                <a:latin typeface="Arial"/>
              </a:rPr>
              <a:t>11</a:t>
            </a:r>
            <a:endParaRPr lang="ru-R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Background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Header"/>
          <p:cNvSpPr/>
          <p:nvPr/>
        </p:nvSpPr>
        <p:spPr>
          <a:xfrm>
            <a:off x="0" y="0"/>
            <a:ext cx="12191760" cy="95976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Accent"/>
          <p:cNvSpPr/>
          <p:nvPr/>
        </p:nvSpPr>
        <p:spPr>
          <a:xfrm>
            <a:off x="0" y="960120"/>
            <a:ext cx="164160" cy="58975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itle"/>
          <p:cNvSpPr/>
          <p:nvPr/>
        </p:nvSpPr>
        <p:spPr>
          <a:xfrm>
            <a:off x="502920" y="201240"/>
            <a:ext cx="108810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0" tIns="119880" rIns="180000" bIns="11988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-RU" sz="33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Аналитика и отчеты</a:t>
            </a:r>
            <a:endParaRPr lang="ru-R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Content"/>
          <p:cNvSpPr/>
          <p:nvPr/>
        </p:nvSpPr>
        <p:spPr>
          <a:xfrm>
            <a:off x="685800" y="1234440"/>
            <a:ext cx="10195200" cy="4891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00" tIns="119880" rIns="180000" bIns="119880" anchor="t">
            <a:noAutofit/>
          </a:bodyPr>
          <a:p>
            <a:pPr indent="-180000">
              <a:lnSpc>
                <a:spcPct val="100000"/>
              </a:lnSpc>
              <a:buClr>
                <a:srgbClr val="111827"/>
              </a:buClr>
              <a:buFont typeface="Symbol" charset="2"/>
              <a:buChar char=""/>
            </a:pPr>
            <a:r>
              <a:rPr lang="ru-RU" sz="2150" b="0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Популярность тренировок</a:t>
            </a:r>
            <a:endParaRPr lang="ru-RU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-180000">
              <a:lnSpc>
                <a:spcPct val="100000"/>
              </a:lnSpc>
              <a:buClr>
                <a:srgbClr val="111827"/>
              </a:buClr>
              <a:buFont typeface="Symbol" charset="2"/>
              <a:buChar char=""/>
            </a:pPr>
            <a:r>
              <a:rPr lang="ru-RU" sz="2150" b="0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Загрузка тренеров</a:t>
            </a:r>
            <a:endParaRPr lang="ru-RU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-180000">
              <a:lnSpc>
                <a:spcPct val="100000"/>
              </a:lnSpc>
              <a:buClr>
                <a:srgbClr val="111827"/>
              </a:buClr>
              <a:buFont typeface="Symbol" charset="2"/>
              <a:buChar char=""/>
            </a:pPr>
            <a:r>
              <a:rPr lang="ru-RU" sz="2150" b="0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Посещаемость</a:t>
            </a:r>
            <a:endParaRPr lang="ru-RU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-180000">
              <a:lnSpc>
                <a:spcPct val="100000"/>
              </a:lnSpc>
              <a:buClr>
                <a:srgbClr val="111827"/>
              </a:buClr>
              <a:buFont typeface="Symbol" charset="2"/>
              <a:buChar char=""/>
            </a:pPr>
            <a:r>
              <a:rPr lang="ru-RU" sz="2150" b="0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Выбор периода отчета</a:t>
            </a:r>
            <a:endParaRPr lang="ru-RU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-180000">
              <a:lnSpc>
                <a:spcPct val="100000"/>
              </a:lnSpc>
              <a:buClr>
                <a:srgbClr val="111827"/>
              </a:buClr>
              <a:buFont typeface="Symbol" charset="2"/>
              <a:buChar char=""/>
            </a:pPr>
            <a:r>
              <a:rPr lang="ru-RU" sz="2150" b="0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Экспорт в PDF и Excel</a:t>
            </a:r>
            <a:endParaRPr lang="ru-RU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-180000">
              <a:lnSpc>
                <a:spcPct val="100000"/>
              </a:lnSpc>
              <a:buClr>
                <a:srgbClr val="111827"/>
              </a:buClr>
              <a:buFont typeface="Symbol" charset="2"/>
              <a:buChar char=""/>
            </a:pPr>
            <a:r>
              <a:rPr lang="ru-RU" sz="2150" b="0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Поддержка управленческих решений</a:t>
            </a:r>
            <a:endParaRPr lang="ru-RU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Footer"/>
          <p:cNvSpPr/>
          <p:nvPr/>
        </p:nvSpPr>
        <p:spPr>
          <a:xfrm>
            <a:off x="10625400" y="6473880"/>
            <a:ext cx="639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0" tIns="114120" rIns="180000" bIns="11412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-RU" sz="3300" b="0" u="none" strike="noStrike">
                <a:solidFill>
                  <a:srgbClr val="64748B"/>
                </a:solidFill>
                <a:effectLst/>
                <a:uFillTx/>
                <a:latin typeface="Arial"/>
              </a:rPr>
              <a:t>12</a:t>
            </a:r>
            <a:endParaRPr lang="ru-R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Background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Header"/>
          <p:cNvSpPr/>
          <p:nvPr/>
        </p:nvSpPr>
        <p:spPr>
          <a:xfrm>
            <a:off x="0" y="0"/>
            <a:ext cx="12191760" cy="95976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Accent"/>
          <p:cNvSpPr/>
          <p:nvPr/>
        </p:nvSpPr>
        <p:spPr>
          <a:xfrm>
            <a:off x="0" y="960120"/>
            <a:ext cx="164160" cy="58975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itle"/>
          <p:cNvSpPr/>
          <p:nvPr/>
        </p:nvSpPr>
        <p:spPr>
          <a:xfrm>
            <a:off x="502920" y="201240"/>
            <a:ext cx="108810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0" tIns="119880" rIns="180000" bIns="11988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-RU" sz="33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Тестирование</a:t>
            </a:r>
            <a:endParaRPr lang="ru-R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Content"/>
          <p:cNvSpPr/>
          <p:nvPr/>
        </p:nvSpPr>
        <p:spPr>
          <a:xfrm>
            <a:off x="685800" y="1234440"/>
            <a:ext cx="5531760" cy="4891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00" tIns="119880" rIns="180000" bIns="119880" anchor="t">
            <a:noAutofit/>
          </a:bodyPr>
          <a:p>
            <a:pPr indent="-180000">
              <a:lnSpc>
                <a:spcPct val="100000"/>
              </a:lnSpc>
              <a:buClr>
                <a:srgbClr val="111827"/>
              </a:buClr>
              <a:buFont typeface="Symbol" charset="2"/>
              <a:buChar char=""/>
            </a:pPr>
            <a:r>
              <a:rPr lang="ru-RU" sz="2150" b="0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pytest и тестовая SQLite БД в памяти</a:t>
            </a:r>
            <a:endParaRPr lang="ru-RU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-180000">
              <a:lnSpc>
                <a:spcPct val="100000"/>
              </a:lnSpc>
              <a:buClr>
                <a:srgbClr val="111827"/>
              </a:buClr>
              <a:buFont typeface="Symbol" charset="2"/>
              <a:buChar char=""/>
            </a:pPr>
            <a:r>
              <a:rPr lang="ru-RU" sz="2150" b="0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Проверка главной страницы, входа и регистрации</a:t>
            </a:r>
            <a:endParaRPr lang="ru-RU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-180000">
              <a:lnSpc>
                <a:spcPct val="100000"/>
              </a:lnSpc>
              <a:buClr>
                <a:srgbClr val="111827"/>
              </a:buClr>
              <a:buFont typeface="Symbol" charset="2"/>
              <a:buChar char=""/>
            </a:pPr>
            <a:r>
              <a:rPr lang="ru-RU" sz="2150" b="0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Проверка пользовательских маршрутов</a:t>
            </a:r>
            <a:endParaRPr lang="ru-RU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-180000">
              <a:lnSpc>
                <a:spcPct val="100000"/>
              </a:lnSpc>
              <a:buClr>
                <a:srgbClr val="111827"/>
              </a:buClr>
              <a:buFont typeface="Symbol" charset="2"/>
              <a:buChar char=""/>
            </a:pPr>
            <a:r>
              <a:rPr lang="ru-RU" sz="2150" b="0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Проверка административного доступа</a:t>
            </a:r>
            <a:endParaRPr lang="ru-RU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-180000">
              <a:lnSpc>
                <a:spcPct val="100000"/>
              </a:lnSpc>
              <a:buClr>
                <a:srgbClr val="111827"/>
              </a:buClr>
              <a:buFont typeface="Symbol" charset="2"/>
              <a:buChar char=""/>
            </a:pPr>
            <a:r>
              <a:rPr lang="ru-RU" sz="2150" b="0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Проверка моделей User, Workout и Booking</a:t>
            </a:r>
            <a:endParaRPr lang="ru-RU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ImageFrame"/>
          <p:cNvSpPr/>
          <p:nvPr/>
        </p:nvSpPr>
        <p:spPr>
          <a:xfrm>
            <a:off x="6400800" y="1207080"/>
            <a:ext cx="4891680" cy="4800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4" name="diagrams/tests_class.png"/>
          <p:cNvPicPr/>
          <p:nvPr/>
        </p:nvPicPr>
        <p:blipFill>
          <a:blip r:embed="rId1"/>
          <a:stretch/>
        </p:blipFill>
        <p:spPr>
          <a:xfrm>
            <a:off x="6473880" y="1353240"/>
            <a:ext cx="4754520" cy="3583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" name="Footer"/>
          <p:cNvSpPr/>
          <p:nvPr/>
        </p:nvSpPr>
        <p:spPr>
          <a:xfrm>
            <a:off x="10625400" y="6473880"/>
            <a:ext cx="639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0" tIns="114120" rIns="180000" bIns="11412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-RU" sz="3300" b="0" u="none" strike="noStrike">
                <a:solidFill>
                  <a:srgbClr val="64748B"/>
                </a:solidFill>
                <a:effectLst/>
                <a:uFillTx/>
                <a:latin typeface="Arial"/>
              </a:rPr>
              <a:t>13</a:t>
            </a:r>
            <a:endParaRPr lang="ru-R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Background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Header"/>
          <p:cNvSpPr/>
          <p:nvPr/>
        </p:nvSpPr>
        <p:spPr>
          <a:xfrm>
            <a:off x="0" y="0"/>
            <a:ext cx="12191760" cy="95976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Accent"/>
          <p:cNvSpPr/>
          <p:nvPr/>
        </p:nvSpPr>
        <p:spPr>
          <a:xfrm>
            <a:off x="0" y="960120"/>
            <a:ext cx="164160" cy="58975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itle"/>
          <p:cNvSpPr/>
          <p:nvPr/>
        </p:nvSpPr>
        <p:spPr>
          <a:xfrm>
            <a:off x="502920" y="201240"/>
            <a:ext cx="108810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0" tIns="119880" rIns="180000" bIns="11988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-RU" sz="33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Результат разработки</a:t>
            </a:r>
            <a:endParaRPr lang="ru-R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Content"/>
          <p:cNvSpPr/>
          <p:nvPr/>
        </p:nvSpPr>
        <p:spPr>
          <a:xfrm>
            <a:off x="685800" y="1234440"/>
            <a:ext cx="10195200" cy="4891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00" tIns="119880" rIns="180000" bIns="119880" anchor="t">
            <a:noAutofit/>
          </a:bodyPr>
          <a:p>
            <a:pPr indent="-180000">
              <a:lnSpc>
                <a:spcPct val="100000"/>
              </a:lnSpc>
              <a:buClr>
                <a:srgbClr val="111827"/>
              </a:buClr>
              <a:buFont typeface="Symbol" charset="2"/>
              <a:buChar char=""/>
            </a:pPr>
            <a:r>
              <a:rPr lang="ru-RU" sz="2150" b="0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Создана веб-ИС для фитнес-клуба</a:t>
            </a:r>
            <a:endParaRPr lang="ru-RU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-180000">
              <a:lnSpc>
                <a:spcPct val="100000"/>
              </a:lnSpc>
              <a:buClr>
                <a:srgbClr val="111827"/>
              </a:buClr>
              <a:buFont typeface="Symbol" charset="2"/>
              <a:buChar char=""/>
            </a:pPr>
            <a:r>
              <a:rPr lang="ru-RU" sz="2150" b="0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Снижена ручная нагрузка администратора</a:t>
            </a:r>
            <a:endParaRPr lang="ru-RU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-180000">
              <a:lnSpc>
                <a:spcPct val="100000"/>
              </a:lnSpc>
              <a:buClr>
                <a:srgbClr val="111827"/>
              </a:buClr>
              <a:buFont typeface="Symbol" charset="2"/>
              <a:buChar char=""/>
            </a:pPr>
            <a:r>
              <a:rPr lang="ru-RU" sz="2150" b="0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Централизованы расписание, клиенты и абонементы</a:t>
            </a:r>
            <a:endParaRPr lang="ru-RU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-180000">
              <a:lnSpc>
                <a:spcPct val="100000"/>
              </a:lnSpc>
              <a:buClr>
                <a:srgbClr val="111827"/>
              </a:buClr>
              <a:buFont typeface="Symbol" charset="2"/>
              <a:buChar char=""/>
            </a:pPr>
            <a:r>
              <a:rPr lang="ru-RU" sz="2150" b="0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Добавлены аналитика и отчетность</a:t>
            </a:r>
            <a:endParaRPr lang="ru-RU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-180000">
              <a:lnSpc>
                <a:spcPct val="100000"/>
              </a:lnSpc>
              <a:buClr>
                <a:srgbClr val="111827"/>
              </a:buClr>
              <a:buFont typeface="Symbol" charset="2"/>
              <a:buChar char=""/>
            </a:pPr>
            <a:r>
              <a:rPr lang="ru-RU" sz="2150" b="0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Архитектура допускает дальнейшее развитие</a:t>
            </a:r>
            <a:endParaRPr lang="ru-RU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Footer"/>
          <p:cNvSpPr/>
          <p:nvPr/>
        </p:nvSpPr>
        <p:spPr>
          <a:xfrm>
            <a:off x="10625400" y="6473880"/>
            <a:ext cx="639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0" tIns="114120" rIns="180000" bIns="11412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-RU" sz="3300" b="0" u="none" strike="noStrike">
                <a:solidFill>
                  <a:srgbClr val="64748B"/>
                </a:solidFill>
                <a:effectLst/>
                <a:uFillTx/>
                <a:latin typeface="Arial"/>
              </a:rPr>
              <a:t>14</a:t>
            </a:r>
            <a:endParaRPr lang="ru-R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Background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Header"/>
          <p:cNvSpPr/>
          <p:nvPr/>
        </p:nvSpPr>
        <p:spPr>
          <a:xfrm>
            <a:off x="0" y="0"/>
            <a:ext cx="12191760" cy="95976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Accent"/>
          <p:cNvSpPr/>
          <p:nvPr/>
        </p:nvSpPr>
        <p:spPr>
          <a:xfrm>
            <a:off x="0" y="960120"/>
            <a:ext cx="164160" cy="58975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Title"/>
          <p:cNvSpPr/>
          <p:nvPr/>
        </p:nvSpPr>
        <p:spPr>
          <a:xfrm>
            <a:off x="502920" y="201240"/>
            <a:ext cx="108810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0" tIns="119880" rIns="180000" bIns="11988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-RU" sz="33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Заключение</a:t>
            </a:r>
            <a:endParaRPr lang="ru-R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Content"/>
          <p:cNvSpPr/>
          <p:nvPr/>
        </p:nvSpPr>
        <p:spPr>
          <a:xfrm>
            <a:off x="685800" y="1234440"/>
            <a:ext cx="10195200" cy="4891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00" tIns="119880" rIns="180000" bIns="119880" anchor="t">
            <a:noAutofit/>
          </a:bodyPr>
          <a:p>
            <a:pPr indent="-180000">
              <a:lnSpc>
                <a:spcPct val="100000"/>
              </a:lnSpc>
              <a:buClr>
                <a:srgbClr val="111827"/>
              </a:buClr>
              <a:buFont typeface="Symbol" charset="2"/>
              <a:buChar char=""/>
            </a:pPr>
            <a:r>
              <a:rPr lang="ru-RU" sz="2150" b="0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Цель ВКР достигнута</a:t>
            </a:r>
            <a:endParaRPr lang="ru-RU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-180000">
              <a:lnSpc>
                <a:spcPct val="100000"/>
              </a:lnSpc>
              <a:buClr>
                <a:srgbClr val="111827"/>
              </a:buClr>
              <a:buFont typeface="Symbol" charset="2"/>
              <a:buChar char=""/>
            </a:pPr>
            <a:r>
              <a:rPr lang="ru-RU" sz="2150" b="0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Разработаны пользовательская и административная части</a:t>
            </a:r>
            <a:endParaRPr lang="ru-RU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-180000">
              <a:lnSpc>
                <a:spcPct val="100000"/>
              </a:lnSpc>
              <a:buClr>
                <a:srgbClr val="111827"/>
              </a:buClr>
              <a:buFont typeface="Symbol" charset="2"/>
              <a:buChar char=""/>
            </a:pPr>
            <a:r>
              <a:rPr lang="ru-RU" sz="2150" b="0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Реализованы абонементы, уведомления и отчеты</a:t>
            </a:r>
            <a:endParaRPr lang="ru-RU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-180000">
              <a:lnSpc>
                <a:spcPct val="100000"/>
              </a:lnSpc>
              <a:buClr>
                <a:srgbClr val="111827"/>
              </a:buClr>
              <a:buFont typeface="Symbol" charset="2"/>
              <a:buChar char=""/>
            </a:pPr>
            <a:r>
              <a:rPr lang="ru-RU" sz="2150" b="0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Проведено тестирование ключевых сценариев</a:t>
            </a:r>
            <a:endParaRPr lang="ru-RU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-180000">
              <a:lnSpc>
                <a:spcPct val="100000"/>
              </a:lnSpc>
              <a:buClr>
                <a:srgbClr val="111827"/>
              </a:buClr>
              <a:buFont typeface="Symbol" charset="2"/>
              <a:buChar char=""/>
            </a:pPr>
            <a:r>
              <a:rPr lang="ru-RU" sz="2150" b="0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Перспективы: онлайн-оплата, мобильная версия, кабинет тренера</a:t>
            </a:r>
            <a:endParaRPr lang="ru-RU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Footer"/>
          <p:cNvSpPr/>
          <p:nvPr/>
        </p:nvSpPr>
        <p:spPr>
          <a:xfrm>
            <a:off x="10625400" y="6473880"/>
            <a:ext cx="639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0" tIns="114120" rIns="180000" bIns="11412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-RU" sz="3300" b="0" u="none" strike="noStrike">
                <a:solidFill>
                  <a:srgbClr val="64748B"/>
                </a:solidFill>
                <a:effectLst/>
                <a:uFillTx/>
                <a:latin typeface="Arial"/>
              </a:rPr>
              <a:t>15</a:t>
            </a:r>
            <a:endParaRPr lang="ru-R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2937"/>
      </a:dk2>
      <a:lt2>
        <a:srgbClr val="F8FAFC"/>
      </a:lt2>
      <a:accent1>
        <a:srgbClr val="2563EB"/>
      </a:accent1>
      <a:accent2>
        <a:srgbClr val="16A34A"/>
      </a:accent2>
      <a:accent3>
        <a:srgbClr val="F59E0B"/>
      </a:accent3>
      <a:accent4>
        <a:srgbClr val="DC2626"/>
      </a:accent4>
      <a:accent5>
        <a:srgbClr val="7C3AED"/>
      </a:accent5>
      <a:accent6>
        <a:srgbClr val="0891B2"/>
      </a:accent6>
      <a:hlink>
        <a:srgbClr val="0000FF"/>
      </a:hlink>
      <a:folHlink>
        <a:srgbClr val="800080"/>
      </a:folHlink>
    </a:clrScheme>
    <a:fontScheme name="Arial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</a:fillStyleLst>
      <a:lnStyleLst>
        <a:ln w="9525"/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LibreOffice/26.2.4.2$Windows_X86_64 LibreOffice_project/0229ac93fcf0d7cbc6376066c6f35021cef002dc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ru-RU</dc:language>
  <cp:lastModifiedBy/>
  <dcterms:modified xsi:type="dcterms:W3CDTF">2026-06-17T20:44:05Z</dcterms:modified>
  <cp:revision>1</cp:revision>
  <dc:subject/>
  <dc:title/>
</cp:coreProperties>
</file>