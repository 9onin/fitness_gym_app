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5"/>
  </p:notesMasterIdLst>
  <p:handoutMasterIdLst>
    <p:handoutMasterId r:id="rId16"/>
  </p:handoutMasterIdLst>
  <p:sldIdLst>
    <p:sldId id="256" r:id="rId2"/>
    <p:sldId id="257" r:id="rId3"/>
    <p:sldId id="269" r:id="rId4"/>
    <p:sldId id="270" r:id="rId5"/>
    <p:sldId id="271" r:id="rId6"/>
    <p:sldId id="272" r:id="rId7"/>
    <p:sldId id="273" r:id="rId8"/>
    <p:sldId id="274" r:id="rId9"/>
    <p:sldId id="275" r:id="rId10"/>
    <p:sldId id="276" r:id="rId11"/>
    <p:sldId id="277" r:id="rId12"/>
    <p:sldId id="278" r:id="rId13"/>
    <p:sldId id="268" r:id="rId14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pos="211" userDrawn="1">
          <p15:clr>
            <a:srgbClr val="F26B43"/>
          </p15:clr>
        </p15:guide>
        <p15:guide id="4" pos="7469" userDrawn="1">
          <p15:clr>
            <a:srgbClr val="F26B43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A3A95"/>
    <a:srgbClr val="FF6F4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20" autoAdjust="0"/>
  </p:normalViewPr>
  <p:slideViewPr>
    <p:cSldViewPr snapToGrid="0" showGuides="1">
      <p:cViewPr>
        <p:scale>
          <a:sx n="75" d="100"/>
          <a:sy n="75" d="100"/>
        </p:scale>
        <p:origin x="489" y="516"/>
      </p:cViewPr>
      <p:guideLst>
        <p:guide orient="horz" pos="2160"/>
        <p:guide pos="3840"/>
        <p:guide pos="211"/>
        <p:guide pos="7469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 showGuides="1">
      <p:cViewPr varScale="1">
        <p:scale>
          <a:sx n="76" d="100"/>
          <a:sy n="76" d="100"/>
        </p:scale>
        <p:origin x="3461" y="92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handoutMaster" Target="handoutMasters/handout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55226DFD-7B12-33B0-1C6C-A7FE9744F89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B433529B-5C43-F028-6F5E-FE220F46FDC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B2CF6C3-3B26-4602-A1D4-7D0ED8E735B8}" type="datetimeFigureOut">
              <a:rPr lang="ru-RU" smtClean="0"/>
              <a:t>13.06.2026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75749496-3173-DD6C-8853-C12652A63A2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67E76C52-B8A1-61B1-8694-E8321CD3A1E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C203A77-E50A-4DAF-B593-1EF627EE7A8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51142384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AC02C69-8DE2-4037-9273-B483969A225B}" type="datetimeFigureOut">
              <a:rPr lang="ru-RU" smtClean="0"/>
              <a:t>13.06.2026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1A97237-9A32-443D-ADDA-6790E021DD4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254768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A97237-9A32-443D-ADDA-6790E021DD46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71900280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3F61A02-62D8-57FF-0F63-7B6CB55FBD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7BAC96F6-93C0-4375-B7C7-787538BBA1C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9396710-DDF3-C97C-C39D-92E7769D4F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846C2-16E4-48DF-A0F3-6554C1CCFA10}" type="datetime1">
              <a:rPr lang="ru-RU" smtClean="0"/>
              <a:t>13.06.2026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B7096D0-DEA8-8FC9-6FC8-BC3DDB4C27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91FF5D6-3E56-FD96-3411-82E10F4F2C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E2CC4F-E372-4903-AEE1-D93856D9C97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175922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5008BDD-BE9D-1AE0-66D3-F15AF1D98A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CD551C6-E6EE-4039-BCAC-E7FD19FAE2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EA552DB-8FAB-EA30-0D19-0102EBADFA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491B4C-BD50-48AD-AB40-827EEA5023B4}" type="datetime1">
              <a:rPr lang="ru-RU" smtClean="0"/>
              <a:t>13.06.2026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2C0189F-DBDC-6797-C2D3-E0E482D84A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501AB3E-080F-4801-0992-19F4AF0CA9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E2CC4F-E372-4903-AEE1-D93856D9C97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644145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16962B9-3609-E246-0126-8D9A139A71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9916762-F11A-D409-4B96-BDEDE640CC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0D5AD02-A644-6DD9-8422-78D810607E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9510A6-1F72-4E7E-B252-52FDC2B6EA8A}" type="datetime1">
              <a:rPr lang="ru-RU" smtClean="0"/>
              <a:t>13.06.2026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E63CA4A-1770-B7CA-0DF8-3A2A477990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BE08397-7575-E620-E945-2624863DDA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E2CC4F-E372-4903-AEE1-D93856D9C97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429133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2E0C298-1C9B-2360-DE7A-78259051C7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A019CF2-959D-BF78-6E82-F794E00B982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338F1DE9-8CA4-5FC6-29D1-B72D1D5DF7F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B0F0E42F-592E-5C7F-2D2F-540502A956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6C6F40-A7F1-495C-AEEC-50FAE4092135}" type="datetime1">
              <a:rPr lang="ru-RU" smtClean="0"/>
              <a:t>13.06.2026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50473E7-F4E7-3918-D64A-ABBFDEFE56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E1A72453-35C2-2395-9ED6-F89D9F6EEB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E2CC4F-E372-4903-AEE1-D93856D9C97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1995742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B4A8617-3CF6-02A3-8009-BA4DF8E91C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DB9A1AD-F569-BF99-33C3-68E9403F23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C68BCD6-FCD1-0597-CA64-95E8A0893C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43F3DDED-03E2-6F3D-1E96-FFD4146BDB4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03B8F95F-3968-EDC0-DA8F-748D5B8DDC0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A73A54EA-4CE6-3867-4189-21507BEDF1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041067-761F-4239-9025-4C060066BB29}" type="datetime1">
              <a:rPr lang="ru-RU" smtClean="0"/>
              <a:t>13.06.2026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19765D3B-D879-CE58-587C-BB9C4BFDB4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4FF8B4A1-6E57-1556-E528-7BFEA91996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E2CC4F-E372-4903-AEE1-D93856D9C97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7774904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5478F3C-787D-2644-066F-10390279FF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F9C3654C-5C7C-448E-DCB4-7CFBA41439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039CB9-9715-4637-A2D1-25395F64EF66}" type="datetime1">
              <a:rPr lang="ru-RU" smtClean="0"/>
              <a:t>13.06.2026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FFB784A1-0857-7B19-06E8-DD9E46F381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B5E8701E-B504-F810-34A8-64A044FEB0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E2CC4F-E372-4903-AEE1-D93856D9C97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1698770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AC83353-73E3-A0C0-7D7D-6431D9E76F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BBC78-889D-4682-A789-DAE2AE10FFB4}" type="datetime1">
              <a:rPr lang="ru-RU" smtClean="0"/>
              <a:t>13.06.2026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9208036E-4085-91CC-38F6-70A6FCC98F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6A296D3-76D5-AE5B-223C-E1EA51F3D3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E2CC4F-E372-4903-AEE1-D93856D9C97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821584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C381CF4-365C-87A3-1A48-7B020ECB8B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D4FF640-D8CB-41D3-661F-112B885A48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4B7B20B9-E197-83B2-28BE-CAD68D2498D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CA2BD2B1-28EF-6121-1128-DE552ED7D6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CED9AD-2D88-46BA-89E3-03DFC5B96BB0}" type="datetime1">
              <a:rPr lang="ru-RU" smtClean="0"/>
              <a:t>13.06.2026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037B5086-0C0F-F0F0-E67C-DA8F78EF57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1F7D95B2-49D9-1DE6-69A3-32FBEF0E04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E2CC4F-E372-4903-AEE1-D93856D9C97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176298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7F90C48-8132-F025-790C-55E82FEE62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11ABD747-9E90-40E4-90FC-CD466C71765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824DFFB5-3ACB-EA96-8968-E9E6E062780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B630605E-1D41-AF86-519E-9C90FB7476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0FA38F-5ECD-4502-9FE1-D737DB87ACFA}" type="datetime1">
              <a:rPr lang="ru-RU" smtClean="0"/>
              <a:t>13.06.2026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D3224591-EB1C-590F-0704-EADDF4CF2B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315E91B3-87F2-9F92-6F73-42A33085E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E2CC4F-E372-4903-AEE1-D93856D9C97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816753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413497-963C-0019-CE8B-736277D9F7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F00674B2-C55D-9B87-DC42-DD3C254319B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41D6F8F-87FC-120B-0267-00E33AE630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E88C00-9DAD-4B9E-B467-FDAC9C874762}" type="datetime1">
              <a:rPr lang="ru-RU" smtClean="0"/>
              <a:t>13.06.2026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3F7301A-274F-5DE7-2F2B-030BB5C381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B08C153-D885-E5E8-9DCB-8516543C31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E2CC4F-E372-4903-AEE1-D93856D9C97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825914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578C285A-EE87-01C2-C80E-B57A6E599E0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028A9A0F-1089-39FB-E4B2-6CAEEF28065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F8715D1-3ABF-F65D-0E6A-CA209EDD07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E0D155-C02B-4E23-A3A2-38D596AA0380}" type="datetime1">
              <a:rPr lang="ru-RU" smtClean="0"/>
              <a:t>13.06.2026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01BE47F-BA2C-9867-50F8-BA6C53EBD7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D6275BA-72E2-7B8F-06C9-37C629B885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E2CC4F-E372-4903-AEE1-D93856D9C97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1075547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8D1583D-7877-6E33-572A-2C6517D83C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FF0B7BE-837F-57C2-DFDD-350042AF67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6DD61B4-693C-4042-2C0F-4BADA0D1862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5B6FD9-0481-48E1-AAF2-037F64EC94C6}" type="datetime1">
              <a:rPr lang="ru-RU" smtClean="0"/>
              <a:t>13.06.2026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5E7D339-895B-6CD5-8318-B713FC5DC84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827380B-29FA-064E-41A8-F986CE0CE42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5E2CC4F-E372-4903-AEE1-D93856D9C97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406118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2">
            <a:extLst>
              <a:ext uri="{FF2B5EF4-FFF2-40B4-BE49-F238E27FC236}">
                <a16:creationId xmlns:a16="http://schemas.microsoft.com/office/drawing/2014/main" id="{3D3D992F-6566-C37C-CF57-2E91AAA660F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338" t="17417" r="23093" b="20852"/>
          <a:stretch>
            <a:fillRect/>
          </a:stretch>
        </p:blipFill>
        <p:spPr bwMode="auto">
          <a:xfrm>
            <a:off x="334963" y="46466"/>
            <a:ext cx="822239" cy="9541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B631091-028B-BADA-D73B-1F64DFCA1DF4}"/>
              </a:ext>
            </a:extLst>
          </p:cNvPr>
          <p:cNvSpPr txBox="1"/>
          <p:nvPr/>
        </p:nvSpPr>
        <p:spPr>
          <a:xfrm>
            <a:off x="1157202" y="55550"/>
            <a:ext cx="596477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400" dirty="0">
                <a:solidFill>
                  <a:srgbClr val="3A3A9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ДЕПАРТАМЕНТ ОБРАЗОВАНИЯ И НАУКИ ГОРОДА МОСКВЫ</a:t>
            </a:r>
          </a:p>
          <a:p>
            <a:r>
              <a:rPr lang="ru-RU" sz="1400" dirty="0">
                <a:solidFill>
                  <a:srgbClr val="3A3A9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Государственное бюджетное профессиональное</a:t>
            </a:r>
          </a:p>
          <a:p>
            <a:r>
              <a:rPr lang="ru-RU" sz="1400" dirty="0">
                <a:solidFill>
                  <a:srgbClr val="3A3A9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образовательное учреждение города Москвы</a:t>
            </a:r>
          </a:p>
          <a:p>
            <a:r>
              <a:rPr lang="ru-RU" sz="1400" dirty="0">
                <a:solidFill>
                  <a:srgbClr val="3A3A95"/>
                </a:solidFill>
                <a:latin typeface="Arial Black" panose="020B0A04020102020204" pitchFamily="34" charset="0"/>
              </a:rPr>
              <a:t>«</a:t>
            </a:r>
            <a:r>
              <a:rPr lang="ru-RU" sz="1400" b="1" dirty="0">
                <a:solidFill>
                  <a:srgbClr val="3A3A95"/>
                </a:solidFill>
                <a:latin typeface="Arial Black" panose="020B0A04020102020204" pitchFamily="34" charset="0"/>
              </a:rPr>
              <a:t>Колледж малого бизнеса № 4</a:t>
            </a:r>
            <a:r>
              <a:rPr lang="ru-RU" sz="1400" dirty="0">
                <a:solidFill>
                  <a:srgbClr val="3A3A95"/>
                </a:solidFill>
                <a:latin typeface="Arial Black" panose="020B0A04020102020204" pitchFamily="34" charset="0"/>
              </a:rPr>
              <a:t>»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FF4E874-232B-1D14-1BA8-0E8ED00827FF}"/>
              </a:ext>
            </a:extLst>
          </p:cNvPr>
          <p:cNvSpPr txBox="1"/>
          <p:nvPr/>
        </p:nvSpPr>
        <p:spPr>
          <a:xfrm>
            <a:off x="2295163" y="2029927"/>
            <a:ext cx="7601673" cy="646331"/>
          </a:xfrm>
          <a:prstGeom prst="rect">
            <a:avLst/>
          </a:prstGeom>
          <a:noFill/>
        </p:spPr>
        <p:txBody>
          <a:bodyPr wrap="square" lIns="0" tIns="36000" rIns="0" bIns="36000" anchor="ctr" anchorCtr="0">
            <a:spAutoFit/>
          </a:bodyPr>
          <a:lstStyle/>
          <a:p>
            <a:pPr algn="ctr"/>
            <a:r>
              <a:rPr lang="ru-RU" dirty="0">
                <a:latin typeface="Arial Black" panose="020B0A04020102020204" pitchFamily="34" charset="0"/>
              </a:rPr>
              <a:t>ВЫПУСКНАЯ КВАЛИФИКАЦИОННАЯ РАБОТА</a:t>
            </a:r>
          </a:p>
          <a:p>
            <a:pPr algn="ctr"/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по теме: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66F8187-3C20-C68D-DD13-A88685394AE6}"/>
              </a:ext>
            </a:extLst>
          </p:cNvPr>
          <p:cNvSpPr txBox="1"/>
          <p:nvPr/>
        </p:nvSpPr>
        <p:spPr>
          <a:xfrm>
            <a:off x="334962" y="4881468"/>
            <a:ext cx="7929361" cy="1323439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900">
                <a:solidFill>
                  <a:srgbClr val="282828"/>
                </a:solidFill>
                <a:latin typeface="Arial"/>
              </a:rPr>
              <a:t>Специальность: 09.02.07 Информационные системы и программирование</a:t>
            </a:r>
          </a:p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900">
                <a:solidFill>
                  <a:srgbClr val="282828"/>
                </a:solidFill>
                <a:latin typeface="Arial"/>
              </a:rPr>
              <a:t>Квалификация: Специалист по информационным системам</a:t>
            </a:r>
          </a:p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900">
                <a:solidFill>
                  <a:srgbClr val="282828"/>
                </a:solidFill>
                <a:latin typeface="Arial"/>
              </a:rPr>
              <a:t>Курс IV, группа ИПО-41.22</a:t>
            </a:r>
          </a:p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900">
                <a:solidFill>
                  <a:srgbClr val="282828"/>
                </a:solidFill>
                <a:latin typeface="Arial"/>
              </a:rPr>
              <a:t>Обучающийся: Черников Никита Александрович</a:t>
            </a:r>
          </a:p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900">
                <a:solidFill>
                  <a:srgbClr val="282828"/>
                </a:solidFill>
                <a:latin typeface="Arial"/>
              </a:rPr>
              <a:t>Руководитель: Рыбаков Александр Сергеевич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C39127D-D5C9-CA95-EF0A-DECD30E84850}"/>
              </a:ext>
            </a:extLst>
          </p:cNvPr>
          <p:cNvSpPr txBox="1"/>
          <p:nvPr/>
        </p:nvSpPr>
        <p:spPr>
          <a:xfrm>
            <a:off x="334961" y="2676258"/>
            <a:ext cx="11522075" cy="1200329"/>
          </a:xfrm>
          <a:prstGeom prst="rect">
            <a:avLst/>
          </a:prstGeom>
          <a:noFill/>
        </p:spPr>
        <p:txBody>
          <a:bodyPr wrap="square" lIns="73152" tIns="36576" rIns="73152" bIns="36576" anchor="ctr" anchorCtr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2700">
                <a:solidFill>
                  <a:srgbClr val="282828"/>
                </a:solidFill>
                <a:latin typeface="Arial"/>
              </a:rPr>
              <a:t>«Отладка и тестирование информационной системы для учета клиентов фитнес-клуба с интеграцией мобильных приложений»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76E51F5-BBE8-FE8B-0F5C-F2BC27C5C57D}"/>
              </a:ext>
            </a:extLst>
          </p:cNvPr>
          <p:cNvSpPr txBox="1"/>
          <p:nvPr/>
        </p:nvSpPr>
        <p:spPr>
          <a:xfrm>
            <a:off x="4578750" y="6483526"/>
            <a:ext cx="3034495" cy="318924"/>
          </a:xfrm>
          <a:prstGeom prst="rect">
            <a:avLst/>
          </a:prstGeom>
          <a:noFill/>
        </p:spPr>
        <p:txBody>
          <a:bodyPr wrap="square" lIns="0" tIns="36000" rIns="0" bIns="36000" anchor="ctr">
            <a:spAutoFit/>
          </a:bodyPr>
          <a:lstStyle/>
          <a:p>
            <a:pPr algn="ctr"/>
            <a:r>
              <a:rPr lang="ru-RU" sz="1600" dirty="0">
                <a:latin typeface="Arial" panose="020B0604020202020204" pitchFamily="34" charset="0"/>
                <a:cs typeface="Arial" panose="020B0604020202020204" pitchFamily="34" charset="0"/>
              </a:rPr>
              <a:t>Москва, 2026</a:t>
            </a:r>
          </a:p>
        </p:txBody>
      </p:sp>
      <p:sp>
        <p:nvSpPr>
          <p:cNvPr id="35" name="Shape 5">
            <a:extLst>
              <a:ext uri="{FF2B5EF4-FFF2-40B4-BE49-F238E27FC236}">
                <a16:creationId xmlns:a16="http://schemas.microsoft.com/office/drawing/2014/main" id="{BBD7AEB9-0823-6148-E3FD-AB5F384DDDA2}"/>
              </a:ext>
            </a:extLst>
          </p:cNvPr>
          <p:cNvSpPr/>
          <p:nvPr/>
        </p:nvSpPr>
        <p:spPr>
          <a:xfrm>
            <a:off x="334963" y="1000574"/>
            <a:ext cx="10698480" cy="0"/>
          </a:xfrm>
          <a:prstGeom prst="line">
            <a:avLst/>
          </a:prstGeom>
          <a:noFill/>
          <a:ln w="1016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1076223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5">
            <a:extLst>
              <a:ext uri="{FF2B5EF4-FFF2-40B4-BE49-F238E27FC236}">
                <a16:creationId xmlns:a16="http://schemas.microsoft.com/office/drawing/2014/main" id="{B84603F7-0122-5A9E-48E0-8AE321ADA366}"/>
              </a:ext>
            </a:extLst>
          </p:cNvPr>
          <p:cNvSpPr/>
          <p:nvPr/>
        </p:nvSpPr>
        <p:spPr>
          <a:xfrm>
            <a:off x="334963" y="560677"/>
            <a:ext cx="10698480" cy="0"/>
          </a:xfrm>
          <a:prstGeom prst="line">
            <a:avLst/>
          </a:prstGeom>
          <a:noFill/>
          <a:ln w="1016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3CFE726-9925-A504-979F-BF45D8C05085}"/>
              </a:ext>
            </a:extLst>
          </p:cNvPr>
          <p:cNvSpPr txBox="1"/>
          <p:nvPr/>
        </p:nvSpPr>
        <p:spPr>
          <a:xfrm>
            <a:off x="334963" y="191345"/>
            <a:ext cx="5964770" cy="349702"/>
          </a:xfrm>
          <a:prstGeom prst="rect">
            <a:avLst/>
          </a:prstGeom>
          <a:noFill/>
        </p:spPr>
        <p:txBody>
          <a:bodyPr wrap="square" lIns="0" tIns="36000" rIns="0" bIns="36000" anchor="ctr" anchorCtr="0">
            <a:spAutoFit/>
          </a:bodyPr>
          <a:lstStyle/>
          <a:p>
            <a:r>
              <a:rPr lang="ru-RU" dirty="0">
                <a:solidFill>
                  <a:srgbClr val="3A3A95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Цель и задачи ВКР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9738929-977D-3D74-E7F2-E19C8F76A4F5}"/>
              </a:ext>
            </a:extLst>
          </p:cNvPr>
          <p:cNvSpPr txBox="1"/>
          <p:nvPr/>
        </p:nvSpPr>
        <p:spPr>
          <a:xfrm>
            <a:off x="334963" y="2828836"/>
            <a:ext cx="11522075" cy="1200329"/>
          </a:xfrm>
          <a:prstGeom prst="rect">
            <a:avLst/>
          </a:prstGeom>
          <a:noFill/>
        </p:spPr>
        <p:txBody>
          <a:bodyPr wrap="square" lIns="109728" rIns="109728" tIns="54864" bIns="54864">
            <a:spAutoFit/>
          </a:bodyPr>
          <a:lstStyle/>
          <a:p>
            <a:pPr>
              <a:lnSpc>
                <a:spcPct val="95000"/>
              </a:lnSpc>
              <a:spcAft>
                <a:spcPts val="800"/>
              </a:spcAft>
            </a:pPr>
            <a:r>
              <a:rPr sz="2200" b="1">
                <a:solidFill>
                  <a:srgbClr val="1F4E79"/>
                </a:solidFill>
                <a:latin typeface="Arial"/>
              </a:rPr>
              <a:t>Цель работы</a:t>
            </a:r>
          </a:p>
          <a:p>
            <a:pPr>
              <a:lnSpc>
                <a:spcPct val="95000"/>
              </a:lnSpc>
              <a:spcAft>
                <a:spcPts val="400"/>
              </a:spcAft>
            </a:pPr>
            <a:r>
              <a:rPr sz="1900">
                <a:solidFill>
                  <a:srgbClr val="282828"/>
                </a:solidFill>
                <a:latin typeface="Arial"/>
              </a:rPr>
              <a:t>разработать и проверить информационную систему учета клиентов фитнес-клуба;</a:t>
            </a:r>
          </a:p>
          <a:p>
            <a:pPr>
              <a:lnSpc>
                <a:spcPct val="95000"/>
              </a:lnSpc>
              <a:spcAft>
                <a:spcPts val="400"/>
              </a:spcAft>
            </a:pPr>
            <a:r>
              <a:rPr sz="1900">
                <a:solidFill>
                  <a:srgbClr val="282828"/>
                </a:solidFill>
                <a:latin typeface="Arial"/>
              </a:rPr>
              <a:t>изучить процессы записи, абонементов, расписания и администрирования;</a:t>
            </a:r>
          </a:p>
          <a:p>
            <a:pPr>
              <a:lnSpc>
                <a:spcPct val="95000"/>
              </a:lnSpc>
              <a:spcAft>
                <a:spcPts val="400"/>
              </a:spcAft>
            </a:pPr>
            <a:r>
              <a:rPr sz="1900">
                <a:solidFill>
                  <a:srgbClr val="282828"/>
                </a:solidFill>
                <a:latin typeface="Arial"/>
              </a:rPr>
              <a:t>спроектировать структуру приложения, базу данных и пользовательские сценарии;</a:t>
            </a:r>
          </a:p>
          <a:p>
            <a:pPr>
              <a:lnSpc>
                <a:spcPct val="95000"/>
              </a:lnSpc>
              <a:spcAft>
                <a:spcPts val="400"/>
              </a:spcAft>
            </a:pPr>
            <a:r>
              <a:rPr sz="1900">
                <a:solidFill>
                  <a:srgbClr val="282828"/>
                </a:solidFill>
                <a:latin typeface="Arial"/>
              </a:rPr>
              <a:t>реализовать клиентскую и административную части веб-приложения;</a:t>
            </a:r>
          </a:p>
          <a:p>
            <a:pPr>
              <a:lnSpc>
                <a:spcPct val="95000"/>
              </a:lnSpc>
              <a:spcAft>
                <a:spcPts val="400"/>
              </a:spcAft>
            </a:pPr>
            <a:r>
              <a:rPr sz="1900">
                <a:solidFill>
                  <a:srgbClr val="282828"/>
                </a:solidFill>
                <a:latin typeface="Arial"/>
              </a:rPr>
              <a:t>провести отладку и тестирование ключевых функций системы.</a:t>
            </a:r>
          </a:p>
        </p:txBody>
      </p:sp>
      <p:sp>
        <p:nvSpPr>
          <p:cNvPr id="8" name="Номер слайда 7">
            <a:extLst>
              <a:ext uri="{FF2B5EF4-FFF2-40B4-BE49-F238E27FC236}">
                <a16:creationId xmlns:a16="http://schemas.microsoft.com/office/drawing/2014/main" id="{BA1027F8-12CC-5ED7-53AD-8BEA8E1F51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E2CC4F-E372-4903-AEE1-D93856D9C97E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119613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B0DE00-AAE5-D0E0-685B-32DFE8FCC8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5">
            <a:extLst>
              <a:ext uri="{FF2B5EF4-FFF2-40B4-BE49-F238E27FC236}">
                <a16:creationId xmlns:a16="http://schemas.microsoft.com/office/drawing/2014/main" id="{3DBF0DBC-BA19-6D3F-3966-5D550A52B38D}"/>
              </a:ext>
            </a:extLst>
          </p:cNvPr>
          <p:cNvSpPr/>
          <p:nvPr/>
        </p:nvSpPr>
        <p:spPr>
          <a:xfrm>
            <a:off x="334963" y="560677"/>
            <a:ext cx="10698480" cy="0"/>
          </a:xfrm>
          <a:prstGeom prst="line">
            <a:avLst/>
          </a:prstGeom>
          <a:noFill/>
          <a:ln w="1016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60C7175-E7B1-18ED-B3CB-2B2A3352982A}"/>
              </a:ext>
            </a:extLst>
          </p:cNvPr>
          <p:cNvSpPr txBox="1"/>
          <p:nvPr/>
        </p:nvSpPr>
        <p:spPr>
          <a:xfrm>
            <a:off x="334963" y="191345"/>
            <a:ext cx="5964770" cy="349702"/>
          </a:xfrm>
          <a:prstGeom prst="rect">
            <a:avLst/>
          </a:prstGeom>
          <a:noFill/>
        </p:spPr>
        <p:txBody>
          <a:bodyPr wrap="square" lIns="0" tIns="36000" rIns="0" bIns="36000" anchor="ctr" anchorCtr="0">
            <a:spAutoFit/>
          </a:bodyPr>
          <a:lstStyle/>
          <a:p>
            <a:r>
              <a:rPr lang="ru-RU" dirty="0">
                <a:solidFill>
                  <a:srgbClr val="3A3A95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Актуальность и проблема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75A1AC3-52EB-CCC1-A6B1-E088BBF75570}"/>
              </a:ext>
            </a:extLst>
          </p:cNvPr>
          <p:cNvSpPr txBox="1"/>
          <p:nvPr/>
        </p:nvSpPr>
        <p:spPr>
          <a:xfrm>
            <a:off x="334963" y="2828836"/>
            <a:ext cx="11522075" cy="1200329"/>
          </a:xfrm>
          <a:prstGeom prst="rect">
            <a:avLst/>
          </a:prstGeom>
          <a:noFill/>
        </p:spPr>
        <p:txBody>
          <a:bodyPr wrap="square" lIns="109728" rIns="109728" tIns="54864" bIns="54864">
            <a:spAutoFit/>
          </a:bodyPr>
          <a:lstStyle/>
          <a:p>
            <a:pPr>
              <a:lnSpc>
                <a:spcPct val="95000"/>
              </a:lnSpc>
              <a:spcAft>
                <a:spcPts val="800"/>
              </a:spcAft>
            </a:pPr>
            <a:r>
              <a:rPr sz="2200" b="1">
                <a:solidFill>
                  <a:srgbClr val="1F4E79"/>
                </a:solidFill>
                <a:latin typeface="Arial"/>
              </a:rPr>
              <a:t>Проблема автоматизации</a:t>
            </a:r>
          </a:p>
          <a:p>
            <a:pPr>
              <a:lnSpc>
                <a:spcPct val="95000"/>
              </a:lnSpc>
              <a:spcAft>
                <a:spcPts val="400"/>
              </a:spcAft>
            </a:pPr>
            <a:r>
              <a:rPr sz="1900">
                <a:solidFill>
                  <a:srgbClr val="282828"/>
                </a:solidFill>
                <a:latin typeface="Arial"/>
              </a:rPr>
              <a:t>ручной учет клиентов, записей и абонементов приводит к ошибкам и потере времени;</a:t>
            </a:r>
          </a:p>
          <a:p>
            <a:pPr>
              <a:lnSpc>
                <a:spcPct val="95000"/>
              </a:lnSpc>
              <a:spcAft>
                <a:spcPts val="400"/>
              </a:spcAft>
            </a:pPr>
            <a:r>
              <a:rPr sz="1900">
                <a:solidFill>
                  <a:srgbClr val="282828"/>
                </a:solidFill>
                <a:latin typeface="Arial"/>
              </a:rPr>
              <a:t>расписание, тренеры, тренировки и абонементы должны храниться согласованно;</a:t>
            </a:r>
          </a:p>
          <a:p>
            <a:pPr>
              <a:lnSpc>
                <a:spcPct val="95000"/>
              </a:lnSpc>
              <a:spcAft>
                <a:spcPts val="400"/>
              </a:spcAft>
            </a:pPr>
            <a:r>
              <a:rPr sz="1900">
                <a:solidFill>
                  <a:srgbClr val="282828"/>
                </a:solidFill>
                <a:latin typeface="Arial"/>
              </a:rPr>
              <a:t>клиенту нужен быстрый доступ к занятиям, а администратору - единая панель управления;</a:t>
            </a:r>
          </a:p>
          <a:p>
            <a:pPr>
              <a:lnSpc>
                <a:spcPct val="95000"/>
              </a:lnSpc>
              <a:spcAft>
                <a:spcPts val="400"/>
              </a:spcAft>
            </a:pPr>
            <a:r>
              <a:rPr sz="1900">
                <a:solidFill>
                  <a:srgbClr val="282828"/>
                </a:solidFill>
                <a:latin typeface="Arial"/>
              </a:rPr>
              <a:t>собственная система позволяет адаптировать функции под реальные процессы клуба.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BBE16C0-69CE-1701-FE63-3AB0E7BE2D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E2CC4F-E372-4903-AEE1-D93856D9C97E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092421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2A0159-FE24-B5BE-2BC3-36E19BDBB0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5">
            <a:extLst>
              <a:ext uri="{FF2B5EF4-FFF2-40B4-BE49-F238E27FC236}">
                <a16:creationId xmlns:a16="http://schemas.microsoft.com/office/drawing/2014/main" id="{09E43C67-43D6-C9C5-D89A-2FA06BB6B5D5}"/>
              </a:ext>
            </a:extLst>
          </p:cNvPr>
          <p:cNvSpPr/>
          <p:nvPr/>
        </p:nvSpPr>
        <p:spPr>
          <a:xfrm>
            <a:off x="334963" y="560677"/>
            <a:ext cx="10698480" cy="0"/>
          </a:xfrm>
          <a:prstGeom prst="line">
            <a:avLst/>
          </a:prstGeom>
          <a:noFill/>
          <a:ln w="1016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40C61CE-3189-F43F-F5D6-8BA1FF5AF484}"/>
              </a:ext>
            </a:extLst>
          </p:cNvPr>
          <p:cNvSpPr txBox="1"/>
          <p:nvPr/>
        </p:nvSpPr>
        <p:spPr>
          <a:xfrm>
            <a:off x="334963" y="191345"/>
            <a:ext cx="5964770" cy="349702"/>
          </a:xfrm>
          <a:prstGeom prst="rect">
            <a:avLst/>
          </a:prstGeom>
          <a:noFill/>
        </p:spPr>
        <p:txBody>
          <a:bodyPr wrap="square" lIns="0" tIns="36000" rIns="0" bIns="36000" anchor="ctr" anchorCtr="0">
            <a:spAutoFit/>
          </a:bodyPr>
          <a:lstStyle/>
          <a:p>
            <a:r>
              <a:rPr lang="ru-RU" dirty="0">
                <a:solidFill>
                  <a:srgbClr val="3A3A95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Анализ предметной области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E669351-5D65-6139-6AC4-E2F3B3D178C4}"/>
              </a:ext>
            </a:extLst>
          </p:cNvPr>
          <p:cNvSpPr txBox="1"/>
          <p:nvPr/>
        </p:nvSpPr>
        <p:spPr>
          <a:xfrm>
            <a:off x="334963" y="2828836"/>
            <a:ext cx="11522075" cy="1200329"/>
          </a:xfrm>
          <a:prstGeom prst="rect">
            <a:avLst/>
          </a:prstGeom>
          <a:noFill/>
        </p:spPr>
        <p:txBody>
          <a:bodyPr wrap="square" lIns="109728" rIns="109728" tIns="54864" bIns="54864">
            <a:spAutoFit/>
          </a:bodyPr>
          <a:lstStyle/>
          <a:p>
            <a:pPr>
              <a:lnSpc>
                <a:spcPct val="95000"/>
              </a:lnSpc>
              <a:spcAft>
                <a:spcPts val="800"/>
              </a:spcAft>
            </a:pPr>
            <a:r>
              <a:rPr sz="2200" b="1">
                <a:solidFill>
                  <a:srgbClr val="1F4E79"/>
                </a:solidFill>
                <a:latin typeface="Arial"/>
              </a:rPr>
              <a:t>Предметная область</a:t>
            </a:r>
          </a:p>
          <a:p>
            <a:pPr>
              <a:lnSpc>
                <a:spcPct val="95000"/>
              </a:lnSpc>
              <a:spcAft>
                <a:spcPts val="400"/>
              </a:spcAft>
            </a:pPr>
            <a:r>
              <a:rPr sz="1900">
                <a:solidFill>
                  <a:srgbClr val="282828"/>
                </a:solidFill>
                <a:latin typeface="Arial"/>
              </a:rPr>
              <a:t>участники: посетитель, администратор, тренер и информационная система;</a:t>
            </a:r>
          </a:p>
          <a:p>
            <a:pPr>
              <a:lnSpc>
                <a:spcPct val="95000"/>
              </a:lnSpc>
              <a:spcAft>
                <a:spcPts val="400"/>
              </a:spcAft>
            </a:pPr>
            <a:r>
              <a:rPr sz="1900">
                <a:solidFill>
                  <a:srgbClr val="282828"/>
                </a:solidFill>
                <a:latin typeface="Arial"/>
              </a:rPr>
              <a:t>основные данные: пользователи, тренеры, типы тренировок, расписание, записи, абонементы;</a:t>
            </a:r>
          </a:p>
          <a:p>
            <a:pPr>
              <a:lnSpc>
                <a:spcPct val="95000"/>
              </a:lnSpc>
              <a:spcAft>
                <a:spcPts val="400"/>
              </a:spcAft>
            </a:pPr>
            <a:r>
              <a:rPr sz="1900">
                <a:solidFill>
                  <a:srgbClr val="282828"/>
                </a:solidFill>
                <a:latin typeface="Arial"/>
              </a:rPr>
              <a:t>ключевые процессы: регистрация, авторизация, выбор занятия, бронирование, управление тарифами;</a:t>
            </a:r>
          </a:p>
          <a:p>
            <a:pPr>
              <a:lnSpc>
                <a:spcPct val="95000"/>
              </a:lnSpc>
              <a:spcAft>
                <a:spcPts val="400"/>
              </a:spcAft>
            </a:pPr>
            <a:r>
              <a:rPr sz="1900">
                <a:solidFill>
                  <a:srgbClr val="282828"/>
                </a:solidFill>
                <a:latin typeface="Arial"/>
              </a:rPr>
              <a:t>по итогам анализа сформированы функциональные требования к системе.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21CA6D1-30D8-EF10-7876-03F6785E87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E2CC4F-E372-4903-AEE1-D93856D9C97E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93081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A5BD95-ADD7-0109-4BC8-6B6E669A52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5">
            <a:extLst>
              <a:ext uri="{FF2B5EF4-FFF2-40B4-BE49-F238E27FC236}">
                <a16:creationId xmlns:a16="http://schemas.microsoft.com/office/drawing/2014/main" id="{744342BF-6FC0-09B4-7897-06A84617C487}"/>
              </a:ext>
            </a:extLst>
          </p:cNvPr>
          <p:cNvSpPr/>
          <p:nvPr/>
        </p:nvSpPr>
        <p:spPr>
          <a:xfrm>
            <a:off x="334963" y="560677"/>
            <a:ext cx="10698480" cy="0"/>
          </a:xfrm>
          <a:prstGeom prst="line">
            <a:avLst/>
          </a:prstGeom>
          <a:noFill/>
          <a:ln w="1016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D0ECA8C-F878-5DC2-8792-91589247EF6B}"/>
              </a:ext>
            </a:extLst>
          </p:cNvPr>
          <p:cNvSpPr txBox="1"/>
          <p:nvPr/>
        </p:nvSpPr>
        <p:spPr>
          <a:xfrm>
            <a:off x="334963" y="191345"/>
            <a:ext cx="5964770" cy="349702"/>
          </a:xfrm>
          <a:prstGeom prst="rect">
            <a:avLst/>
          </a:prstGeom>
          <a:noFill/>
        </p:spPr>
        <p:txBody>
          <a:bodyPr wrap="square" lIns="0" tIns="36000" rIns="0" bIns="36000" anchor="ctr" anchorCtr="0">
            <a:spAutoFit/>
          </a:bodyPr>
          <a:lstStyle/>
          <a:p>
            <a:r>
              <a:rPr lang="ru-RU" dirty="0">
                <a:solidFill>
                  <a:srgbClr val="3A3A95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Обзор аналогов и выбор подхода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5127FCA-B6A4-8ED8-F003-795BB0FA948D}"/>
              </a:ext>
            </a:extLst>
          </p:cNvPr>
          <p:cNvSpPr txBox="1"/>
          <p:nvPr/>
        </p:nvSpPr>
        <p:spPr>
          <a:xfrm>
            <a:off x="334963" y="2828836"/>
            <a:ext cx="11522075" cy="1200329"/>
          </a:xfrm>
          <a:prstGeom prst="rect">
            <a:avLst/>
          </a:prstGeom>
          <a:noFill/>
        </p:spPr>
        <p:txBody>
          <a:bodyPr wrap="square" lIns="109728" rIns="109728" tIns="54864" bIns="54864">
            <a:spAutoFit/>
          </a:bodyPr>
          <a:lstStyle/>
          <a:p>
            <a:pPr>
              <a:lnSpc>
                <a:spcPct val="95000"/>
              </a:lnSpc>
              <a:spcAft>
                <a:spcPts val="800"/>
              </a:spcAft>
            </a:pPr>
            <a:r>
              <a:rPr sz="2200" b="1">
                <a:solidFill>
                  <a:srgbClr val="1F4E79"/>
                </a:solidFill>
                <a:latin typeface="Arial"/>
              </a:rPr>
              <a:t>Выбор подхода</a:t>
            </a:r>
          </a:p>
          <a:p>
            <a:pPr>
              <a:lnSpc>
                <a:spcPct val="95000"/>
              </a:lnSpc>
              <a:spcAft>
                <a:spcPts val="400"/>
              </a:spcAft>
            </a:pPr>
            <a:r>
              <a:rPr sz="1900">
                <a:solidFill>
                  <a:srgbClr val="282828"/>
                </a:solidFill>
                <a:latin typeface="Arial"/>
              </a:rPr>
              <a:t>готовые сервисы часто избыточны, платны или плохо адаптируются под учебный проект;</a:t>
            </a:r>
          </a:p>
          <a:p>
            <a:pPr>
              <a:lnSpc>
                <a:spcPct val="95000"/>
              </a:lnSpc>
              <a:spcAft>
                <a:spcPts val="400"/>
              </a:spcAft>
            </a:pPr>
            <a:r>
              <a:rPr sz="1900">
                <a:solidFill>
                  <a:srgbClr val="282828"/>
                </a:solidFill>
                <a:latin typeface="Arial"/>
              </a:rPr>
              <a:t>для небольшого фитнес-клуба важны простое развертывание и понятная структура данных;</a:t>
            </a:r>
          </a:p>
          <a:p>
            <a:pPr>
              <a:lnSpc>
                <a:spcPct val="95000"/>
              </a:lnSpc>
              <a:spcAft>
                <a:spcPts val="400"/>
              </a:spcAft>
            </a:pPr>
            <a:r>
              <a:rPr sz="1900">
                <a:solidFill>
                  <a:srgbClr val="282828"/>
                </a:solidFill>
                <a:latin typeface="Arial"/>
              </a:rPr>
              <a:t>выбрана самостоятельная разработка веб-приложения с модульной архитектурой;</a:t>
            </a:r>
          </a:p>
          <a:p>
            <a:pPr>
              <a:lnSpc>
                <a:spcPct val="95000"/>
              </a:lnSpc>
              <a:spcAft>
                <a:spcPts val="400"/>
              </a:spcAft>
            </a:pPr>
            <a:r>
              <a:rPr sz="1900">
                <a:solidFill>
                  <a:srgbClr val="282828"/>
                </a:solidFill>
                <a:latin typeface="Arial"/>
              </a:rPr>
              <a:t>это дает контроль над логикой учета, интерфейсом и дальнейшим расширением.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C026431-1AFC-0C35-AC2C-E6402DFEE6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E2CC4F-E372-4903-AEE1-D93856D9C97E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060824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FDB49E-84FF-4B54-B439-DA48270632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5">
            <a:extLst>
              <a:ext uri="{FF2B5EF4-FFF2-40B4-BE49-F238E27FC236}">
                <a16:creationId xmlns:a16="http://schemas.microsoft.com/office/drawing/2014/main" id="{73C9FF3A-9685-6110-1E55-0BC14772F137}"/>
              </a:ext>
            </a:extLst>
          </p:cNvPr>
          <p:cNvSpPr/>
          <p:nvPr/>
        </p:nvSpPr>
        <p:spPr>
          <a:xfrm>
            <a:off x="334963" y="560677"/>
            <a:ext cx="10698480" cy="0"/>
          </a:xfrm>
          <a:prstGeom prst="line">
            <a:avLst/>
          </a:prstGeom>
          <a:noFill/>
          <a:ln w="1016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80EC8B2-7636-CE18-0AC9-1E2D32D5D0A1}"/>
              </a:ext>
            </a:extLst>
          </p:cNvPr>
          <p:cNvSpPr txBox="1"/>
          <p:nvPr/>
        </p:nvSpPr>
        <p:spPr>
          <a:xfrm>
            <a:off x="334963" y="191345"/>
            <a:ext cx="5964770" cy="349702"/>
          </a:xfrm>
          <a:prstGeom prst="rect">
            <a:avLst/>
          </a:prstGeom>
          <a:noFill/>
        </p:spPr>
        <p:txBody>
          <a:bodyPr wrap="square" lIns="0" tIns="36000" rIns="0" bIns="36000" anchor="ctr" anchorCtr="0">
            <a:spAutoFit/>
          </a:bodyPr>
          <a:lstStyle/>
          <a:p>
            <a:r>
              <a:rPr lang="ru-RU" dirty="0">
                <a:solidFill>
                  <a:srgbClr val="3A3A95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Архитектура решения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F977C28-F2BB-8FA6-98FA-96CB9A45AF67}"/>
              </a:ext>
            </a:extLst>
          </p:cNvPr>
          <p:cNvSpPr txBox="1"/>
          <p:nvPr/>
        </p:nvSpPr>
        <p:spPr>
          <a:xfrm>
            <a:off x="334963" y="2828836"/>
            <a:ext cx="11522075" cy="1200329"/>
          </a:xfrm>
          <a:prstGeom prst="rect">
            <a:avLst/>
          </a:prstGeom>
          <a:noFill/>
        </p:spPr>
        <p:txBody>
          <a:bodyPr wrap="square" lIns="109728" rIns="109728" tIns="54864" bIns="54864">
            <a:spAutoFit/>
          </a:bodyPr>
          <a:lstStyle/>
          <a:p>
            <a:pPr>
              <a:lnSpc>
                <a:spcPct val="95000"/>
              </a:lnSpc>
              <a:spcAft>
                <a:spcPts val="800"/>
              </a:spcAft>
            </a:pPr>
            <a:r>
              <a:rPr sz="2200" b="1">
                <a:solidFill>
                  <a:srgbClr val="1F4E79"/>
                </a:solidFill>
                <a:latin typeface="Arial"/>
              </a:rPr>
              <a:t>Архитектура решения</a:t>
            </a:r>
          </a:p>
          <a:p>
            <a:pPr>
              <a:lnSpc>
                <a:spcPct val="95000"/>
              </a:lnSpc>
              <a:spcAft>
                <a:spcPts val="400"/>
              </a:spcAft>
            </a:pPr>
            <a:r>
              <a:rPr sz="1900">
                <a:solidFill>
                  <a:srgbClr val="282828"/>
                </a:solidFill>
                <a:latin typeface="Arial"/>
              </a:rPr>
              <a:t>приложение построено на Flask и разделено на логические blueprint-модули;</a:t>
            </a:r>
          </a:p>
          <a:p>
            <a:pPr>
              <a:lnSpc>
                <a:spcPct val="95000"/>
              </a:lnSpc>
              <a:spcAft>
                <a:spcPts val="400"/>
              </a:spcAft>
            </a:pPr>
            <a:r>
              <a:rPr sz="1900">
                <a:solidFill>
                  <a:srgbClr val="282828"/>
                </a:solidFill>
                <a:latin typeface="Arial"/>
              </a:rPr>
              <a:t>выделены публичная часть, авторизация, личный кабинет, абонементы, админ-панель и аналитика;</a:t>
            </a:r>
          </a:p>
          <a:p>
            <a:pPr>
              <a:lnSpc>
                <a:spcPct val="95000"/>
              </a:lnSpc>
              <a:spcAft>
                <a:spcPts val="400"/>
              </a:spcAft>
            </a:pPr>
            <a:r>
              <a:rPr sz="1900">
                <a:solidFill>
                  <a:srgbClr val="282828"/>
                </a:solidFill>
                <a:latin typeface="Arial"/>
              </a:rPr>
              <a:t>модели SQLAlchemy описывают основные сущности и связи базы данных;</a:t>
            </a:r>
          </a:p>
          <a:p>
            <a:pPr>
              <a:lnSpc>
                <a:spcPct val="95000"/>
              </a:lnSpc>
              <a:spcAft>
                <a:spcPts val="400"/>
              </a:spcAft>
            </a:pPr>
            <a:r>
              <a:rPr sz="1900">
                <a:solidFill>
                  <a:srgbClr val="282828"/>
                </a:solidFill>
                <a:latin typeface="Arial"/>
              </a:rPr>
              <a:t>разделение маршрутов и шаблонов упрощает сопровождение и тестирование.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4A699CF-D1CA-B9CE-BB48-D3F8066A67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E2CC4F-E372-4903-AEE1-D93856D9C97E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56382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66815A-1678-F1DA-E79A-A2C457C97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5">
            <a:extLst>
              <a:ext uri="{FF2B5EF4-FFF2-40B4-BE49-F238E27FC236}">
                <a16:creationId xmlns:a16="http://schemas.microsoft.com/office/drawing/2014/main" id="{D9BF9691-EC40-26D9-E6DE-FA93B3C6E763}"/>
              </a:ext>
            </a:extLst>
          </p:cNvPr>
          <p:cNvSpPr/>
          <p:nvPr/>
        </p:nvSpPr>
        <p:spPr>
          <a:xfrm>
            <a:off x="334963" y="560677"/>
            <a:ext cx="10698480" cy="0"/>
          </a:xfrm>
          <a:prstGeom prst="line">
            <a:avLst/>
          </a:prstGeom>
          <a:noFill/>
          <a:ln w="1016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B675066-AE70-4CD4-1AB9-7D1BDC7D5E23}"/>
              </a:ext>
            </a:extLst>
          </p:cNvPr>
          <p:cNvSpPr txBox="1"/>
          <p:nvPr/>
        </p:nvSpPr>
        <p:spPr>
          <a:xfrm>
            <a:off x="334963" y="191345"/>
            <a:ext cx="5964770" cy="349702"/>
          </a:xfrm>
          <a:prstGeom prst="rect">
            <a:avLst/>
          </a:prstGeom>
          <a:noFill/>
        </p:spPr>
        <p:txBody>
          <a:bodyPr wrap="square" lIns="0" tIns="36000" rIns="0" bIns="36000" anchor="ctr" anchorCtr="0">
            <a:spAutoFit/>
          </a:bodyPr>
          <a:lstStyle/>
          <a:p>
            <a:r>
              <a:rPr lang="ru-RU" dirty="0">
                <a:solidFill>
                  <a:srgbClr val="3A3A95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Используемые технологии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5C135E-8834-9F8B-0A3E-968322B3700C}"/>
              </a:ext>
            </a:extLst>
          </p:cNvPr>
          <p:cNvSpPr txBox="1"/>
          <p:nvPr/>
        </p:nvSpPr>
        <p:spPr>
          <a:xfrm>
            <a:off x="334963" y="2828836"/>
            <a:ext cx="11522075" cy="1200329"/>
          </a:xfrm>
          <a:prstGeom prst="rect">
            <a:avLst/>
          </a:prstGeom>
          <a:noFill/>
        </p:spPr>
        <p:txBody>
          <a:bodyPr wrap="square" lIns="109728" rIns="109728" tIns="54864" bIns="54864">
            <a:spAutoFit/>
          </a:bodyPr>
          <a:lstStyle/>
          <a:p>
            <a:pPr>
              <a:lnSpc>
                <a:spcPct val="95000"/>
              </a:lnSpc>
              <a:spcAft>
                <a:spcPts val="800"/>
              </a:spcAft>
            </a:pPr>
            <a:r>
              <a:rPr sz="2200" b="1">
                <a:solidFill>
                  <a:srgbClr val="1F4E79"/>
                </a:solidFill>
                <a:latin typeface="Arial"/>
              </a:rPr>
              <a:t>Технологический стек</a:t>
            </a:r>
          </a:p>
          <a:p>
            <a:pPr>
              <a:lnSpc>
                <a:spcPct val="95000"/>
              </a:lnSpc>
              <a:spcAft>
                <a:spcPts val="400"/>
              </a:spcAft>
            </a:pPr>
            <a:r>
              <a:rPr sz="1900">
                <a:solidFill>
                  <a:srgbClr val="282828"/>
                </a:solidFill>
                <a:latin typeface="Arial"/>
              </a:rPr>
              <a:t>Python и Flask - серверная логика и маршрутизация веб-приложения;</a:t>
            </a:r>
          </a:p>
          <a:p>
            <a:pPr>
              <a:lnSpc>
                <a:spcPct val="95000"/>
              </a:lnSpc>
              <a:spcAft>
                <a:spcPts val="400"/>
              </a:spcAft>
            </a:pPr>
            <a:r>
              <a:rPr sz="1900">
                <a:solidFill>
                  <a:srgbClr val="282828"/>
                </a:solidFill>
                <a:latin typeface="Arial"/>
              </a:rPr>
              <a:t>SQLAlchemy и SQLite - хранение данных и работа с моделями;</a:t>
            </a:r>
          </a:p>
          <a:p>
            <a:pPr>
              <a:lnSpc>
                <a:spcPct val="95000"/>
              </a:lnSpc>
              <a:spcAft>
                <a:spcPts val="400"/>
              </a:spcAft>
            </a:pPr>
            <a:r>
              <a:rPr sz="1900">
                <a:solidFill>
                  <a:srgbClr val="282828"/>
                </a:solidFill>
                <a:latin typeface="Arial"/>
              </a:rPr>
              <a:t>Flask-Login и WTForms - авторизация, сессии и проверка форм;</a:t>
            </a:r>
          </a:p>
          <a:p>
            <a:pPr>
              <a:lnSpc>
                <a:spcPct val="95000"/>
              </a:lnSpc>
              <a:spcAft>
                <a:spcPts val="400"/>
              </a:spcAft>
            </a:pPr>
            <a:r>
              <a:rPr sz="1900">
                <a:solidFill>
                  <a:srgbClr val="282828"/>
                </a:solidFill>
                <a:latin typeface="Arial"/>
              </a:rPr>
              <a:t>HTML, CSS, Bootstrap/Tailwind-подходы - интерфейс пользователя и администратора;</a:t>
            </a:r>
          </a:p>
          <a:p>
            <a:pPr>
              <a:lnSpc>
                <a:spcPct val="95000"/>
              </a:lnSpc>
              <a:spcAft>
                <a:spcPts val="400"/>
              </a:spcAft>
            </a:pPr>
            <a:r>
              <a:rPr sz="1900">
                <a:solidFill>
                  <a:srgbClr val="282828"/>
                </a:solidFill>
                <a:latin typeface="Arial"/>
              </a:rPr>
              <a:t>pytest - автоматизированная проверка основных сценариев.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3F6FAF2-7692-1872-7B6C-34C0126057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E2CC4F-E372-4903-AEE1-D93856D9C97E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983776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43BA9F-35A8-D264-65E9-7A9A9031EF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5">
            <a:extLst>
              <a:ext uri="{FF2B5EF4-FFF2-40B4-BE49-F238E27FC236}">
                <a16:creationId xmlns:a16="http://schemas.microsoft.com/office/drawing/2014/main" id="{165960F8-0DD1-A18F-3946-A300768988FA}"/>
              </a:ext>
            </a:extLst>
          </p:cNvPr>
          <p:cNvSpPr/>
          <p:nvPr/>
        </p:nvSpPr>
        <p:spPr>
          <a:xfrm>
            <a:off x="334963" y="560677"/>
            <a:ext cx="10698480" cy="0"/>
          </a:xfrm>
          <a:prstGeom prst="line">
            <a:avLst/>
          </a:prstGeom>
          <a:noFill/>
          <a:ln w="1016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F3A85D4-5CB8-16B3-6F61-E4757DCDDA41}"/>
              </a:ext>
            </a:extLst>
          </p:cNvPr>
          <p:cNvSpPr txBox="1"/>
          <p:nvPr/>
        </p:nvSpPr>
        <p:spPr>
          <a:xfrm>
            <a:off x="334963" y="191345"/>
            <a:ext cx="5964770" cy="349702"/>
          </a:xfrm>
          <a:prstGeom prst="rect">
            <a:avLst/>
          </a:prstGeom>
          <a:noFill/>
        </p:spPr>
        <p:txBody>
          <a:bodyPr wrap="square" lIns="0" tIns="36000" rIns="0" bIns="36000" anchor="ctr" anchorCtr="0">
            <a:spAutoFit/>
          </a:bodyPr>
          <a:lstStyle/>
          <a:p>
            <a:r>
              <a:rPr lang="ru-RU" dirty="0">
                <a:solidFill>
                  <a:srgbClr val="3A3A95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База данных и модули системы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3639798-EA4D-9067-B832-335E5E05F61E}"/>
              </a:ext>
            </a:extLst>
          </p:cNvPr>
          <p:cNvSpPr txBox="1"/>
          <p:nvPr/>
        </p:nvSpPr>
        <p:spPr>
          <a:xfrm>
            <a:off x="334963" y="2967335"/>
            <a:ext cx="11522075" cy="923330"/>
          </a:xfrm>
          <a:prstGeom prst="rect">
            <a:avLst/>
          </a:prstGeom>
          <a:noFill/>
        </p:spPr>
        <p:txBody>
          <a:bodyPr wrap="square" lIns="109728" rIns="109728" tIns="54864" bIns="54864">
            <a:spAutoFit/>
          </a:bodyPr>
          <a:lstStyle/>
          <a:p>
            <a:pPr>
              <a:lnSpc>
                <a:spcPct val="95000"/>
              </a:lnSpc>
              <a:spcAft>
                <a:spcPts val="800"/>
              </a:spcAft>
            </a:pPr>
            <a:r>
              <a:rPr sz="2200" b="1">
                <a:solidFill>
                  <a:srgbClr val="1F4E79"/>
                </a:solidFill>
                <a:latin typeface="Arial"/>
              </a:rPr>
              <a:t>База данных и модули</a:t>
            </a:r>
          </a:p>
          <a:p>
            <a:pPr>
              <a:lnSpc>
                <a:spcPct val="95000"/>
              </a:lnSpc>
              <a:spcAft>
                <a:spcPts val="400"/>
              </a:spcAft>
            </a:pPr>
            <a:r>
              <a:rPr sz="1900">
                <a:solidFill>
                  <a:srgbClr val="282828"/>
                </a:solidFill>
                <a:latin typeface="Arial"/>
              </a:rPr>
              <a:t>основные сущности: User, Trainer, WorkoutType, Workout, Booking, Membership;</a:t>
            </a:r>
          </a:p>
          <a:p>
            <a:pPr>
              <a:lnSpc>
                <a:spcPct val="95000"/>
              </a:lnSpc>
              <a:spcAft>
                <a:spcPts val="400"/>
              </a:spcAft>
            </a:pPr>
            <a:r>
              <a:rPr sz="1900">
                <a:solidFill>
                  <a:srgbClr val="282828"/>
                </a:solidFill>
                <a:latin typeface="Arial"/>
              </a:rPr>
              <a:t>связи БД поддерживают запись клиента на тренировку и учет абонементов;</a:t>
            </a:r>
          </a:p>
          <a:p>
            <a:pPr>
              <a:lnSpc>
                <a:spcPct val="95000"/>
              </a:lnSpc>
              <a:spcAft>
                <a:spcPts val="400"/>
              </a:spcAft>
            </a:pPr>
            <a:r>
              <a:rPr sz="1900">
                <a:solidFill>
                  <a:srgbClr val="282828"/>
                </a:solidFill>
                <a:latin typeface="Arial"/>
              </a:rPr>
              <a:t>модули системы покрывают регистрацию, расписание, тренеров, записи, абонементы и отчеты;</a:t>
            </a:r>
          </a:p>
          <a:p>
            <a:pPr>
              <a:lnSpc>
                <a:spcPct val="95000"/>
              </a:lnSpc>
              <a:spcAft>
                <a:spcPts val="400"/>
              </a:spcAft>
            </a:pPr>
            <a:r>
              <a:rPr sz="1900">
                <a:solidFill>
                  <a:srgbClr val="282828"/>
                </a:solidFill>
                <a:latin typeface="Arial"/>
              </a:rPr>
              <a:t>административный модуль управляет справочниками и клиентской базой.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00D5CE2-CF7D-4B5E-23EC-7D67CEAF0A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E2CC4F-E372-4903-AEE1-D93856D9C97E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887623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9BBEC4-6826-E130-F029-AD8AD952F5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5">
            <a:extLst>
              <a:ext uri="{FF2B5EF4-FFF2-40B4-BE49-F238E27FC236}">
                <a16:creationId xmlns:a16="http://schemas.microsoft.com/office/drawing/2014/main" id="{BD8B78FD-5249-D1A4-0A8E-B3288E3BBFCD}"/>
              </a:ext>
            </a:extLst>
          </p:cNvPr>
          <p:cNvSpPr/>
          <p:nvPr/>
        </p:nvSpPr>
        <p:spPr>
          <a:xfrm>
            <a:off x="334963" y="560677"/>
            <a:ext cx="10698480" cy="0"/>
          </a:xfrm>
          <a:prstGeom prst="line">
            <a:avLst/>
          </a:prstGeom>
          <a:noFill/>
          <a:ln w="1016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CEFABA1-B313-A3E1-C233-AD8A7EE8DD66}"/>
              </a:ext>
            </a:extLst>
          </p:cNvPr>
          <p:cNvSpPr txBox="1"/>
          <p:nvPr/>
        </p:nvSpPr>
        <p:spPr>
          <a:xfrm>
            <a:off x="334963" y="191345"/>
            <a:ext cx="5964770" cy="349702"/>
          </a:xfrm>
          <a:prstGeom prst="rect">
            <a:avLst/>
          </a:prstGeom>
          <a:noFill/>
        </p:spPr>
        <p:txBody>
          <a:bodyPr wrap="square" lIns="0" tIns="36000" rIns="0" bIns="36000" anchor="ctr" anchorCtr="0">
            <a:spAutoFit/>
          </a:bodyPr>
          <a:lstStyle/>
          <a:p>
            <a:r>
              <a:rPr lang="ru-RU" dirty="0">
                <a:solidFill>
                  <a:srgbClr val="3A3A95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Ключевой функционал и тестирование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92DD5A3-B4C7-8D49-1A62-8F32C118F676}"/>
              </a:ext>
            </a:extLst>
          </p:cNvPr>
          <p:cNvSpPr txBox="1"/>
          <p:nvPr/>
        </p:nvSpPr>
        <p:spPr>
          <a:xfrm>
            <a:off x="334963" y="868680"/>
            <a:ext cx="11522075" cy="1627632"/>
          </a:xfrm>
          <a:prstGeom prst="rect">
            <a:avLst/>
          </a:prstGeom>
          <a:noFill/>
        </p:spPr>
        <p:txBody>
          <a:bodyPr wrap="square" lIns="109728" rIns="109728" tIns="54864" bIns="54864">
            <a:spAutoFit/>
          </a:bodyPr>
          <a:lstStyle/>
          <a:p>
            <a:pPr>
              <a:lnSpc>
                <a:spcPct val="95000"/>
              </a:lnSpc>
              <a:spcAft>
                <a:spcPts val="800"/>
              </a:spcAft>
            </a:pPr>
            <a:r>
              <a:rPr sz="2200" b="1">
                <a:solidFill>
                  <a:srgbClr val="1F4E79"/>
                </a:solidFill>
                <a:latin typeface="Arial"/>
              </a:rPr>
              <a:t>Функционал и проверка</a:t>
            </a:r>
          </a:p>
          <a:p>
            <a:pPr>
              <a:lnSpc>
                <a:spcPct val="95000"/>
              </a:lnSpc>
              <a:spcAft>
                <a:spcPts val="400"/>
              </a:spcAft>
            </a:pPr>
            <a:r>
              <a:rPr sz="1900">
                <a:solidFill>
                  <a:srgbClr val="282828"/>
                </a:solidFill>
                <a:latin typeface="Arial"/>
              </a:rPr>
              <a:t>посетитель просматривает главную страницу, тренировки, абонементы и оформляет запись;</a:t>
            </a:r>
          </a:p>
          <a:p>
            <a:pPr>
              <a:lnSpc>
                <a:spcPct val="95000"/>
              </a:lnSpc>
              <a:spcAft>
                <a:spcPts val="400"/>
              </a:spcAft>
            </a:pPr>
            <a:r>
              <a:rPr sz="1900">
                <a:solidFill>
                  <a:srgbClr val="282828"/>
                </a:solidFill>
                <a:latin typeface="Arial"/>
              </a:rPr>
              <a:t>администратор управляет пользователями, тренерами, расписанием, тарифами и отчетами;</a:t>
            </a:r>
          </a:p>
          <a:p>
            <a:pPr>
              <a:lnSpc>
                <a:spcPct val="95000"/>
              </a:lnSpc>
              <a:spcAft>
                <a:spcPts val="400"/>
              </a:spcAft>
            </a:pPr>
            <a:r>
              <a:rPr sz="1900">
                <a:solidFill>
                  <a:srgbClr val="282828"/>
                </a:solidFill>
                <a:latin typeface="Arial"/>
              </a:rPr>
              <a:t>тестирование охватывает публичные страницы, авторизацию, пользовательские маршруты, админ-доступ и модели;</a:t>
            </a:r>
          </a:p>
          <a:p>
            <a:pPr>
              <a:lnSpc>
                <a:spcPct val="95000"/>
              </a:lnSpc>
              <a:spcAft>
                <a:spcPts val="400"/>
              </a:spcAft>
            </a:pPr>
            <a:r>
              <a:rPr sz="1900">
                <a:solidFill>
                  <a:srgbClr val="282828"/>
                </a:solidFill>
                <a:latin typeface="Arial"/>
              </a:rPr>
              <a:t>отладка выполнялась по маршрутам, формам, шаблонам, связям моделей и правам доступа.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8C66187-189C-08D2-90A3-2A09FC4223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E2CC4F-E372-4903-AEE1-D93856D9C97E}" type="slidenum">
              <a:rPr lang="ru-RU" smtClean="0"/>
              <a:t>9</a:t>
            </a:fld>
            <a:endParaRPr lang="ru-RU"/>
          </a:p>
        </p:txBody>
      </p:sp>
      <p:pic>
        <p:nvPicPr>
          <p:cNvPr id="7" name="Picture 6" descr="homep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3022034"/>
            <a:ext cx="3520440" cy="1774051"/>
          </a:xfrm>
          <a:prstGeom prst="rect">
            <a:avLst/>
          </a:prstGeom>
        </p:spPr>
      </p:pic>
      <p:pic>
        <p:nvPicPr>
          <p:cNvPr id="8" name="Picture 7" descr="visitor_workou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3032628"/>
            <a:ext cx="3520440" cy="1752863"/>
          </a:xfrm>
          <a:prstGeom prst="rect">
            <a:avLst/>
          </a:prstGeom>
        </p:spPr>
      </p:pic>
      <p:pic>
        <p:nvPicPr>
          <p:cNvPr id="9" name="Picture 8" descr="admin_dashboa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75320" y="3031700"/>
            <a:ext cx="3520440" cy="17547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4118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6A090E-FF32-0AF4-E6AF-68789161DD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5">
            <a:extLst>
              <a:ext uri="{FF2B5EF4-FFF2-40B4-BE49-F238E27FC236}">
                <a16:creationId xmlns:a16="http://schemas.microsoft.com/office/drawing/2014/main" id="{B351928D-6ED5-2A17-7CC9-DDD16A386AC7}"/>
              </a:ext>
            </a:extLst>
          </p:cNvPr>
          <p:cNvSpPr/>
          <p:nvPr/>
        </p:nvSpPr>
        <p:spPr>
          <a:xfrm>
            <a:off x="334963" y="560677"/>
            <a:ext cx="10698480" cy="0"/>
          </a:xfrm>
          <a:prstGeom prst="line">
            <a:avLst/>
          </a:prstGeom>
          <a:noFill/>
          <a:ln w="1016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D702A5B-C63E-0B0E-2515-31BE9673BB6C}"/>
              </a:ext>
            </a:extLst>
          </p:cNvPr>
          <p:cNvSpPr txBox="1"/>
          <p:nvPr/>
        </p:nvSpPr>
        <p:spPr>
          <a:xfrm>
            <a:off x="334963" y="191345"/>
            <a:ext cx="5964770" cy="349702"/>
          </a:xfrm>
          <a:prstGeom prst="rect">
            <a:avLst/>
          </a:prstGeom>
          <a:noFill/>
        </p:spPr>
        <p:txBody>
          <a:bodyPr wrap="square" lIns="0" tIns="36000" rIns="0" bIns="36000" anchor="ctr" anchorCtr="0">
            <a:spAutoFit/>
          </a:bodyPr>
          <a:lstStyle/>
          <a:p>
            <a:r>
              <a:rPr lang="ru-RU" dirty="0">
                <a:solidFill>
                  <a:srgbClr val="3A3A95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Результаты разработки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110FD29-DA40-EE0E-63E9-2F45E222CD1B}"/>
              </a:ext>
            </a:extLst>
          </p:cNvPr>
          <p:cNvSpPr txBox="1"/>
          <p:nvPr/>
        </p:nvSpPr>
        <p:spPr>
          <a:xfrm>
            <a:off x="334963" y="2967335"/>
            <a:ext cx="11522075" cy="923330"/>
          </a:xfrm>
          <a:prstGeom prst="rect">
            <a:avLst/>
          </a:prstGeom>
          <a:noFill/>
        </p:spPr>
        <p:txBody>
          <a:bodyPr wrap="square" lIns="109728" rIns="109728" tIns="54864" bIns="54864">
            <a:spAutoFit/>
          </a:bodyPr>
          <a:lstStyle/>
          <a:p>
            <a:pPr>
              <a:lnSpc>
                <a:spcPct val="95000"/>
              </a:lnSpc>
              <a:spcAft>
                <a:spcPts val="800"/>
              </a:spcAft>
            </a:pPr>
            <a:r>
              <a:rPr sz="2200" b="1">
                <a:solidFill>
                  <a:srgbClr val="1F4E79"/>
                </a:solidFill>
                <a:latin typeface="Arial"/>
              </a:rPr>
              <a:t>Итог разработки</a:t>
            </a:r>
          </a:p>
          <a:p>
            <a:pPr>
              <a:lnSpc>
                <a:spcPct val="95000"/>
              </a:lnSpc>
              <a:spcAft>
                <a:spcPts val="400"/>
              </a:spcAft>
            </a:pPr>
            <a:r>
              <a:rPr sz="1900">
                <a:solidFill>
                  <a:srgbClr val="282828"/>
                </a:solidFill>
                <a:latin typeface="Arial"/>
              </a:rPr>
              <a:t>создано работающее веб-приложение для учета клиентов фитнес-клуба;</a:t>
            </a:r>
          </a:p>
          <a:p>
            <a:pPr>
              <a:lnSpc>
                <a:spcPct val="95000"/>
              </a:lnSpc>
              <a:spcAft>
                <a:spcPts val="400"/>
              </a:spcAft>
            </a:pPr>
            <a:r>
              <a:rPr sz="1900">
                <a:solidFill>
                  <a:srgbClr val="282828"/>
                </a:solidFill>
                <a:latin typeface="Arial"/>
              </a:rPr>
              <a:t>реализованы регистрация, авторизация, расписание, записи, абонементы, уведомления и аналитика;</a:t>
            </a:r>
          </a:p>
          <a:p>
            <a:pPr>
              <a:lnSpc>
                <a:spcPct val="95000"/>
              </a:lnSpc>
              <a:spcAft>
                <a:spcPts val="400"/>
              </a:spcAft>
            </a:pPr>
            <a:r>
              <a:rPr sz="1900">
                <a:solidFill>
                  <a:srgbClr val="282828"/>
                </a:solidFill>
                <a:latin typeface="Arial"/>
              </a:rPr>
              <a:t>подготовлены диаграммы архитектуры, БД, классов, прецедентов и тестовой структуры;</a:t>
            </a:r>
          </a:p>
          <a:p>
            <a:pPr>
              <a:lnSpc>
                <a:spcPct val="95000"/>
              </a:lnSpc>
              <a:spcAft>
                <a:spcPts val="400"/>
              </a:spcAft>
            </a:pPr>
            <a:r>
              <a:rPr sz="1900">
                <a:solidFill>
                  <a:srgbClr val="282828"/>
                </a:solidFill>
                <a:latin typeface="Arial"/>
              </a:rPr>
              <a:t>результат соответствует цели ВКР и подтвержден тестированием основных сценариев.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0D3DB36-228A-ABF1-8306-6E4A3CFB26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E2CC4F-E372-4903-AEE1-D93856D9C97E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847736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9DD0EF-7F22-FE1B-9DDD-C7492B3E6C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5">
            <a:extLst>
              <a:ext uri="{FF2B5EF4-FFF2-40B4-BE49-F238E27FC236}">
                <a16:creationId xmlns:a16="http://schemas.microsoft.com/office/drawing/2014/main" id="{C54B2F74-E294-50E0-53D5-2B6090B94844}"/>
              </a:ext>
            </a:extLst>
          </p:cNvPr>
          <p:cNvSpPr/>
          <p:nvPr/>
        </p:nvSpPr>
        <p:spPr>
          <a:xfrm>
            <a:off x="334963" y="560677"/>
            <a:ext cx="10698480" cy="0"/>
          </a:xfrm>
          <a:prstGeom prst="line">
            <a:avLst/>
          </a:prstGeom>
          <a:noFill/>
          <a:ln w="1016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1DE6FF5-81C4-EA65-BA00-C87A6C773EEB}"/>
              </a:ext>
            </a:extLst>
          </p:cNvPr>
          <p:cNvSpPr txBox="1"/>
          <p:nvPr/>
        </p:nvSpPr>
        <p:spPr>
          <a:xfrm>
            <a:off x="334963" y="191345"/>
            <a:ext cx="5964770" cy="349702"/>
          </a:xfrm>
          <a:prstGeom prst="rect">
            <a:avLst/>
          </a:prstGeom>
          <a:noFill/>
        </p:spPr>
        <p:txBody>
          <a:bodyPr wrap="square" lIns="0" tIns="36000" rIns="0" bIns="36000" anchor="ctr" anchorCtr="0">
            <a:spAutoFit/>
          </a:bodyPr>
          <a:lstStyle/>
          <a:p>
            <a:r>
              <a:rPr lang="ru-RU" dirty="0">
                <a:solidFill>
                  <a:srgbClr val="3A3A95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Практическая значимость и личный вклад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F72EF07-8B32-2525-1F83-0C943CD8525E}"/>
              </a:ext>
            </a:extLst>
          </p:cNvPr>
          <p:cNvSpPr txBox="1"/>
          <p:nvPr/>
        </p:nvSpPr>
        <p:spPr>
          <a:xfrm>
            <a:off x="334963" y="2967335"/>
            <a:ext cx="11522075" cy="923330"/>
          </a:xfrm>
          <a:prstGeom prst="rect">
            <a:avLst/>
          </a:prstGeom>
          <a:noFill/>
        </p:spPr>
        <p:txBody>
          <a:bodyPr wrap="square" lIns="109728" rIns="109728" tIns="54864" bIns="54864">
            <a:spAutoFit/>
          </a:bodyPr>
          <a:lstStyle/>
          <a:p>
            <a:pPr>
              <a:lnSpc>
                <a:spcPct val="95000"/>
              </a:lnSpc>
              <a:spcAft>
                <a:spcPts val="800"/>
              </a:spcAft>
            </a:pPr>
            <a:r>
              <a:rPr sz="2200" b="1">
                <a:solidFill>
                  <a:srgbClr val="1F4E79"/>
                </a:solidFill>
                <a:latin typeface="Arial"/>
              </a:rPr>
              <a:t>Практическая значимость</a:t>
            </a:r>
          </a:p>
          <a:p>
            <a:pPr>
              <a:lnSpc>
                <a:spcPct val="95000"/>
              </a:lnSpc>
              <a:spcAft>
                <a:spcPts val="400"/>
              </a:spcAft>
            </a:pPr>
            <a:r>
              <a:rPr sz="1900">
                <a:solidFill>
                  <a:srgbClr val="282828"/>
                </a:solidFill>
                <a:latin typeface="Arial"/>
              </a:rPr>
              <a:t>система снижает объем ручной работы администратора;</a:t>
            </a:r>
          </a:p>
          <a:p>
            <a:pPr>
              <a:lnSpc>
                <a:spcPct val="95000"/>
              </a:lnSpc>
              <a:spcAft>
                <a:spcPts val="400"/>
              </a:spcAft>
            </a:pPr>
            <a:r>
              <a:rPr sz="1900">
                <a:solidFill>
                  <a:srgbClr val="282828"/>
                </a:solidFill>
                <a:latin typeface="Arial"/>
              </a:rPr>
              <a:t>клиент получает самостоятельный доступ к расписанию и абонементам;</a:t>
            </a:r>
          </a:p>
          <a:p>
            <a:pPr>
              <a:lnSpc>
                <a:spcPct val="95000"/>
              </a:lnSpc>
              <a:spcAft>
                <a:spcPts val="400"/>
              </a:spcAft>
            </a:pPr>
            <a:r>
              <a:rPr sz="1900">
                <a:solidFill>
                  <a:srgbClr val="282828"/>
                </a:solidFill>
                <a:latin typeface="Arial"/>
              </a:rPr>
              <a:t>данные о пользователях, тренировках и посещениях хранятся централизованно;</a:t>
            </a:r>
          </a:p>
          <a:p>
            <a:pPr>
              <a:lnSpc>
                <a:spcPct val="95000"/>
              </a:lnSpc>
              <a:spcAft>
                <a:spcPts val="400"/>
              </a:spcAft>
            </a:pPr>
            <a:r>
              <a:rPr sz="1900">
                <a:solidFill>
                  <a:srgbClr val="282828"/>
                </a:solidFill>
                <a:latin typeface="Arial"/>
              </a:rPr>
              <a:t>личный вклад включает анализ, проектирование, реализацию интерфейсов, БД и тестов.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611DC4F-9B23-B21E-5DDB-72B33A3F83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E2CC4F-E372-4903-AEE1-D93856D9C97E}" type="slidenum">
              <a:rPr lang="ru-RU" smtClean="0"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075562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EA3F98-31B8-FD48-420F-9D07E70F4C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5">
            <a:extLst>
              <a:ext uri="{FF2B5EF4-FFF2-40B4-BE49-F238E27FC236}">
                <a16:creationId xmlns:a16="http://schemas.microsoft.com/office/drawing/2014/main" id="{807E95E2-5204-E24E-57BD-98065C9F8A3C}"/>
              </a:ext>
            </a:extLst>
          </p:cNvPr>
          <p:cNvSpPr/>
          <p:nvPr/>
        </p:nvSpPr>
        <p:spPr>
          <a:xfrm>
            <a:off x="334963" y="560677"/>
            <a:ext cx="10698480" cy="0"/>
          </a:xfrm>
          <a:prstGeom prst="line">
            <a:avLst/>
          </a:prstGeom>
          <a:noFill/>
          <a:ln w="1016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3AB5F6C-6FA4-BA67-3BF4-FA10000B6716}"/>
              </a:ext>
            </a:extLst>
          </p:cNvPr>
          <p:cNvSpPr txBox="1"/>
          <p:nvPr/>
        </p:nvSpPr>
        <p:spPr>
          <a:xfrm>
            <a:off x="334963" y="191345"/>
            <a:ext cx="5964770" cy="349702"/>
          </a:xfrm>
          <a:prstGeom prst="rect">
            <a:avLst/>
          </a:prstGeom>
          <a:noFill/>
        </p:spPr>
        <p:txBody>
          <a:bodyPr wrap="square" lIns="0" tIns="36000" rIns="0" bIns="36000" anchor="ctr" anchorCtr="0">
            <a:spAutoFit/>
          </a:bodyPr>
          <a:lstStyle/>
          <a:p>
            <a:r>
              <a:rPr lang="ru-RU" dirty="0">
                <a:solidFill>
                  <a:srgbClr val="3A3A95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Заключение и перспективы развития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225C11F-2D42-0483-693E-B4EA6E6B7E62}"/>
              </a:ext>
            </a:extLst>
          </p:cNvPr>
          <p:cNvSpPr txBox="1"/>
          <p:nvPr/>
        </p:nvSpPr>
        <p:spPr>
          <a:xfrm>
            <a:off x="334963" y="2828836"/>
            <a:ext cx="11522075" cy="1200329"/>
          </a:xfrm>
          <a:prstGeom prst="rect">
            <a:avLst/>
          </a:prstGeom>
          <a:noFill/>
        </p:spPr>
        <p:txBody>
          <a:bodyPr wrap="square" lIns="109728" rIns="109728" tIns="54864" bIns="54864">
            <a:spAutoFit/>
          </a:bodyPr>
          <a:lstStyle/>
          <a:p>
            <a:pPr>
              <a:lnSpc>
                <a:spcPct val="95000"/>
              </a:lnSpc>
              <a:spcAft>
                <a:spcPts val="800"/>
              </a:spcAft>
            </a:pPr>
            <a:r>
              <a:rPr sz="2200" b="1">
                <a:solidFill>
                  <a:srgbClr val="1F4E79"/>
                </a:solidFill>
                <a:latin typeface="Arial"/>
              </a:rPr>
              <a:t>Выводы и развитие</a:t>
            </a:r>
          </a:p>
          <a:p>
            <a:pPr>
              <a:lnSpc>
                <a:spcPct val="95000"/>
              </a:lnSpc>
              <a:spcAft>
                <a:spcPts val="400"/>
              </a:spcAft>
            </a:pPr>
            <a:r>
              <a:rPr sz="1900">
                <a:solidFill>
                  <a:srgbClr val="282828"/>
                </a:solidFill>
                <a:latin typeface="Arial"/>
              </a:rPr>
              <a:t>цель работы достигнута, поставленные задачи выполнены;</a:t>
            </a:r>
          </a:p>
          <a:p>
            <a:pPr>
              <a:lnSpc>
                <a:spcPct val="95000"/>
              </a:lnSpc>
              <a:spcAft>
                <a:spcPts val="400"/>
              </a:spcAft>
            </a:pPr>
            <a:r>
              <a:rPr sz="1900">
                <a:solidFill>
                  <a:srgbClr val="282828"/>
                </a:solidFill>
                <a:latin typeface="Arial"/>
              </a:rPr>
              <a:t>разработанная система может служить основой для автоматизации фитнес-клуба;</a:t>
            </a:r>
          </a:p>
          <a:p>
            <a:pPr>
              <a:lnSpc>
                <a:spcPct val="95000"/>
              </a:lnSpc>
              <a:spcAft>
                <a:spcPts val="400"/>
              </a:spcAft>
            </a:pPr>
            <a:r>
              <a:rPr sz="1900">
                <a:solidFill>
                  <a:srgbClr val="282828"/>
                </a:solidFill>
                <a:latin typeface="Arial"/>
              </a:rPr>
              <a:t>перспективы: онлайн-оплата, мобильное приложение, кабинет тренера, push-уведомления;</a:t>
            </a:r>
          </a:p>
          <a:p>
            <a:pPr>
              <a:lnSpc>
                <a:spcPct val="95000"/>
              </a:lnSpc>
              <a:spcAft>
                <a:spcPts val="400"/>
              </a:spcAft>
            </a:pPr>
            <a:r>
              <a:rPr sz="1900">
                <a:solidFill>
                  <a:srgbClr val="282828"/>
                </a:solidFill>
                <a:latin typeface="Arial"/>
              </a:rPr>
              <a:t>также возможно расширение аналитики, безопасности и интеграций с внешними сервисами.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D1CB80F-20AD-60E3-8BB0-3AC855DDD1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E2CC4F-E372-4903-AEE1-D93856D9C97E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009947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2FDE80A-E502-90BC-DB07-A7C0CA3781E9}"/>
              </a:ext>
            </a:extLst>
          </p:cNvPr>
          <p:cNvSpPr txBox="1"/>
          <p:nvPr/>
        </p:nvSpPr>
        <p:spPr>
          <a:xfrm>
            <a:off x="3048965" y="2979290"/>
            <a:ext cx="6094070" cy="442035"/>
          </a:xfrm>
          <a:prstGeom prst="rect">
            <a:avLst/>
          </a:prstGeom>
          <a:noFill/>
        </p:spPr>
        <p:txBody>
          <a:bodyPr wrap="square" lIns="0" tIns="36000" rIns="0" bIns="36000" anchor="ctr" anchorCtr="0">
            <a:spAutoFit/>
          </a:bodyPr>
          <a:lstStyle/>
          <a:p>
            <a:pPr algn="ctr"/>
            <a:r>
              <a:rPr lang="ru-RU" sz="2400" dirty="0">
                <a:latin typeface="Arial Black" panose="020B0A04020102020204" pitchFamily="34" charset="0"/>
              </a:rPr>
              <a:t>Спасибо за внимание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9325876-30CD-B07B-93CE-521BDE27D769}"/>
              </a:ext>
            </a:extLst>
          </p:cNvPr>
          <p:cNvSpPr txBox="1"/>
          <p:nvPr/>
        </p:nvSpPr>
        <p:spPr>
          <a:xfrm>
            <a:off x="334963" y="0"/>
            <a:ext cx="6094070" cy="1477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2000">
                <a:solidFill>
                  <a:srgbClr val="282828"/>
                </a:solidFill>
                <a:latin typeface="Arial"/>
              </a:rPr>
              <a:t>Работа завершена. Основные результаты представлены, проект готов к демонстрации и обсуждению.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9D67898-DE62-0CD7-4F0E-3EFE8409C636}"/>
              </a:ext>
            </a:extLst>
          </p:cNvPr>
          <p:cNvSpPr txBox="1"/>
          <p:nvPr/>
        </p:nvSpPr>
        <p:spPr>
          <a:xfrm>
            <a:off x="3048965" y="3440955"/>
            <a:ext cx="6094070" cy="349702"/>
          </a:xfrm>
          <a:prstGeom prst="rect">
            <a:avLst/>
          </a:prstGeom>
          <a:noFill/>
        </p:spPr>
        <p:txBody>
          <a:bodyPr wrap="square" lIns="0" tIns="36000" rIns="0" bIns="36000" anchor="ctr" anchorCtr="0">
            <a:spAutoFit/>
          </a:bodyPr>
          <a:lstStyle/>
          <a:p>
            <a:pPr algn="ctr"/>
            <a:r>
              <a:rPr lang="ru-RU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Готов(а) ответить на вопросы комиссии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7AF1C7F-134F-4D75-8FD8-5084202113ED}"/>
              </a:ext>
            </a:extLst>
          </p:cNvPr>
          <p:cNvSpPr txBox="1"/>
          <p:nvPr/>
        </p:nvSpPr>
        <p:spPr>
          <a:xfrm>
            <a:off x="334962" y="4923287"/>
            <a:ext cx="11522075" cy="349702"/>
          </a:xfrm>
          <a:prstGeom prst="rect">
            <a:avLst/>
          </a:prstGeom>
          <a:noFill/>
        </p:spPr>
        <p:txBody>
          <a:bodyPr wrap="square" lIns="73152" tIns="36576" rIns="73152" bIns="36576" anchor="ctr" anchorCtr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900">
                <a:solidFill>
                  <a:srgbClr val="282828"/>
                </a:solidFill>
                <a:latin typeface="Arial"/>
              </a:rPr>
              <a:t>Репозиторий GitHub: https://github.com/9onin/fitness_gym_app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E5C934C-B880-6FCD-1027-EEA5FA840AE5}"/>
              </a:ext>
            </a:extLst>
          </p:cNvPr>
          <p:cNvSpPr txBox="1"/>
          <p:nvPr/>
        </p:nvSpPr>
        <p:spPr>
          <a:xfrm>
            <a:off x="334963" y="5292619"/>
            <a:ext cx="11522075" cy="349702"/>
          </a:xfrm>
          <a:prstGeom prst="rect">
            <a:avLst/>
          </a:prstGeom>
          <a:noFill/>
        </p:spPr>
        <p:txBody>
          <a:bodyPr wrap="square" lIns="73152" tIns="36576" rIns="73152" bIns="36576" anchor="ctr" anchorCtr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900">
                <a:solidFill>
                  <a:srgbClr val="282828"/>
                </a:solidFill>
                <a:latin typeface="Arial"/>
              </a:rPr>
              <a:t>QR-код репозитория</a:t>
            </a:r>
          </a:p>
        </p:txBody>
      </p:sp>
      <p:sp>
        <p:nvSpPr>
          <p:cNvPr id="12" name="Номер слайда 11">
            <a:extLst>
              <a:ext uri="{FF2B5EF4-FFF2-40B4-BE49-F238E27FC236}">
                <a16:creationId xmlns:a16="http://schemas.microsoft.com/office/drawing/2014/main" id="{80DA23C4-D1C4-8721-9980-3923074D54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E2CC4F-E372-4903-AEE1-D93856D9C97E}" type="slidenum">
              <a:rPr lang="ru-RU" smtClean="0"/>
              <a:t>13</a:t>
            </a:fld>
            <a:endParaRPr lang="ru-RU"/>
          </a:p>
        </p:txBody>
      </p:sp>
      <p:pic>
        <p:nvPicPr>
          <p:cNvPr id="13" name="Picture 12" descr="github_qr_fitness_gy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920" y="4160520"/>
            <a:ext cx="1234440" cy="1234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9458714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709</Words>
  <Application>Microsoft Office PowerPoint</Application>
  <PresentationFormat>Широкоэкранный</PresentationFormat>
  <Paragraphs>53</Paragraphs>
  <Slides>13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13</vt:i4>
      </vt:variant>
    </vt:vector>
  </HeadingPairs>
  <TitlesOfParts>
    <vt:vector size="18" baseType="lpstr">
      <vt:lpstr>Aptos</vt:lpstr>
      <vt:lpstr>Aptos Display</vt:lpstr>
      <vt:lpstr>Arial</vt:lpstr>
      <vt:lpstr>Arial Black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Anastasi Cheprasova</dc:creator>
  <cp:lastModifiedBy>Anastasi Cheprasova</cp:lastModifiedBy>
  <cp:revision>2</cp:revision>
  <dcterms:created xsi:type="dcterms:W3CDTF">2026-06-13T14:57:40Z</dcterms:created>
  <dcterms:modified xsi:type="dcterms:W3CDTF">2026-06-13T15:15:42Z</dcterms:modified>
</cp:coreProperties>
</file>