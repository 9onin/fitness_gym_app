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Для перемещения страницы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C816A79-F3F9-4A15-AC5F-D11AA34EFF9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28C2AC-1881-4BBB-8D8D-BD8FC120BF98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DD9511-AED4-439B-84F2-20291F109F4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C7EAC8-065A-4477-91D7-625EF06C3BB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9B6272-CCBD-41AE-939B-B8E6969855C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873BF9-BEFB-4F1C-9FE0-20CF26DB1ECB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68DAF6-8202-4782-928F-FB30DE6A47D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A15782-1183-4360-8FE7-DB306A73E58B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90FB38-C50A-4AB8-9B44-1189A27AA50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9D0678-3156-403E-95AC-622C9CEC56EA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782836-16D8-4B69-B1DE-197B18FA609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FF0CBA-D1CD-4175-AEC2-D9BBBC1428E5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678D3D-6522-4510-800E-95133714CA8A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rcRect l="23335" t="17412" r="23097" b="20850"/>
          <a:stretch/>
        </p:blipFill>
        <p:spPr>
          <a:xfrm>
            <a:off x="334800" y="46440"/>
            <a:ext cx="821160" cy="95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1157040" y="55440"/>
            <a:ext cx="596376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3A3A95"/>
                </a:solidFill>
                <a:effectLst/>
                <a:uFillTx/>
                <a:latin typeface="Arial"/>
              </a:rPr>
              <a:t>ДЕПАРТАМЕНТ ОБРАЗОВАНИЯ И НАУКИ ГОРОДА МОСКВЫ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3A3A95"/>
                </a:solidFill>
                <a:effectLst/>
                <a:uFillTx/>
                <a:latin typeface="Arial"/>
              </a:rPr>
              <a:t>Государственное бюджетное профессиональное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3A3A95"/>
                </a:solidFill>
                <a:effectLst/>
                <a:uFillTx/>
                <a:latin typeface="Arial"/>
              </a:rPr>
              <a:t>образовательное учреждение города Москвы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«</a:t>
            </a:r>
            <a:r>
              <a:rPr lang="ru-RU" sz="1400" b="1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Колледж малого бизнеса № 4</a:t>
            </a:r>
            <a:r>
              <a:rPr lang="ru-RU" sz="14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5"/>
          <p:cNvSpPr/>
          <p:nvPr/>
        </p:nvSpPr>
        <p:spPr>
          <a:xfrm>
            <a:off x="2295000" y="2030040"/>
            <a:ext cx="760068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ВЫПУСКНАЯ КВАЛИФИКАЦИОННАЯ РАБОТА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 теме: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7"/>
          <p:cNvSpPr/>
          <p:nvPr/>
        </p:nvSpPr>
        <p:spPr>
          <a:xfrm>
            <a:off x="334800" y="4881600"/>
            <a:ext cx="7928280" cy="13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36720" rIns="73080" bIns="36720" anchor="ctr">
            <a:spAutoFit/>
          </a:bodyPr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Специальность: 09.02.07 Информационные системы и программирование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Квалификация: Специалист по информационным системам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Курс IV, группа ИПО-41.22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Обучающийся: Черников Никита Александрович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Руководитель: Рыбаков Александр Сергеевич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9"/>
          <p:cNvSpPr/>
          <p:nvPr/>
        </p:nvSpPr>
        <p:spPr>
          <a:xfrm>
            <a:off x="334800" y="2676240"/>
            <a:ext cx="11521080" cy="11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36720" rIns="73080" bIns="36720" anchor="ctr">
            <a:spAutoFit/>
          </a:bodyPr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27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«Отладка и тестирование информационной системы для учета клиентов фитнес-клуба с интеграцией мобильных приложений»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2"/>
          <p:cNvSpPr/>
          <p:nvPr/>
        </p:nvSpPr>
        <p:spPr>
          <a:xfrm>
            <a:off x="4578840" y="6483600"/>
            <a:ext cx="30333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Москва, 2026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334800" y="100044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Актуальность и проблема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334800" y="2828880"/>
            <a:ext cx="11521080" cy="17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Проблема автоматизации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ручной учет клиентов, записей и абонементов приводит к ошибкам и потере времени;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расписание, тренеры, тренировки и абонементы должны храниться согласованно;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клиенту нужен быстрый доступ к занятиям, а администратору - единая панель управления;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собственная система позволяет адаптировать функции под реальные процессы клуба.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2C4FB31-E268-4A5A-97B2-483F90E9A6B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34800" y="192240"/>
            <a:ext cx="5963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Цель и задачи ВКР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334800" y="2828880"/>
            <a:ext cx="11521080" cy="21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Цель работы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разработать и проверить информационную систему учета клиентов фитнес-клуба;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изучить процессы записи, абонементов, расписания и администрирования;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спроектировать структуру приложения, базу данных и пользовательские сценарии;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реализовать клиентскую и административную части веб-приложения;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провести отладку и тестирование ключевых функций системы.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69F299-2651-49A5-BA8A-F993CF1FBC4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Обзор аналогов и выбор подхода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334800" y="2828880"/>
            <a:ext cx="11521080" cy="17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Выбор подхода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готовые сервисы часто избыточны, платны или плохо адаптируются под учебный проект;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для небольшого фитнес-клуба важны простое развертывание и понятная структура данных;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выбрана самостоятельная разработка веб-приложения с модульной архитектурой;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это дает контроль над логикой учета, интерфейсом и дальнейшим расширением.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2571AF9-10A6-474A-9171-31693FE2288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334800" y="192240"/>
            <a:ext cx="5963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Используемые технологии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334800" y="2828880"/>
            <a:ext cx="11521080" cy="21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Технологический стек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Python и Flask - серверная логика и маршрутизация веб-приложения;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SQLAlchemy и SQLite - хранение данных и работа с моделями;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Flask-Login и WTForms - авторизация, сессии и проверка форм;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HTML, CSS, Bootstrap/Tailwind-подходы - интерфейс пользователя и администратора;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pytest - автоматизированная проверка основных сценариев.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8BF4687-A87A-4AD8-A0CF-DFA0FB05D81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Архитектура решения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334800" y="777240"/>
            <a:ext cx="1152108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Архитектура решения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приложение построено на Flask и разделено на логические blueprint-модули;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выделены публичная часть, авторизация, личный кабинет, абонементы, админ-панель и аналитика;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модели SQLAlchemy описывают основные сущности и связи базы данных;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разделение маршрутов и шаблонов упрощает сопровождение и тестирование.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6" descr="project_structure.png"/>
          <p:cNvPicPr/>
          <p:nvPr/>
        </p:nvPicPr>
        <p:blipFill>
          <a:blip r:embed="rId1"/>
          <a:stretch/>
        </p:blipFill>
        <p:spPr>
          <a:xfrm>
            <a:off x="1128960" y="2880000"/>
            <a:ext cx="4141440" cy="324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7" descr="Controllers Class Diagram.png"/>
          <p:cNvPicPr/>
          <p:nvPr/>
        </p:nvPicPr>
        <p:blipFill>
          <a:blip r:embed="rId2"/>
          <a:stretch/>
        </p:blipFill>
        <p:spPr>
          <a:xfrm>
            <a:off x="6305760" y="3201120"/>
            <a:ext cx="5393880" cy="273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D1517C0-A6A7-4078-A768-22A23C03033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334800" y="192240"/>
            <a:ext cx="5963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Анализ предметной области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334800" y="777240"/>
            <a:ext cx="1152108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Предметная область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участники: посетитель, администратор, тренер и информационная система;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основные данные: пользователи, тренеры, типы тренировок, расписание, записи, абонементы;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ключевые процессы: регистрация, авторизация, выбор занятия, бронирование, управление тарифами;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по итогам анализа сформированы функциональные требования к системе.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6" descr="use_case_diagram.png"/>
          <p:cNvPicPr/>
          <p:nvPr/>
        </p:nvPicPr>
        <p:blipFill>
          <a:blip r:embed="rId1"/>
          <a:stretch/>
        </p:blipFill>
        <p:spPr>
          <a:xfrm>
            <a:off x="3447360" y="3008880"/>
            <a:ext cx="5265720" cy="329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3C7932-F4B3-4851-B818-22E79D22FEC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База данных и модули системы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334800" y="777240"/>
            <a:ext cx="11521080" cy="17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База данных и модули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основные сущности: User, Trainer, WorkoutType, Workout, Booking, Membership;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связи БД поддерживают запись клиента на тренировку и учет абонементов;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модули системы покрывают регистрацию, расписание, тренеров, записи, абонементы и отчеты;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административный модуль управляет справочниками и клиентской базой.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6" descr="er_diagram.png"/>
          <p:cNvPicPr/>
          <p:nvPr/>
        </p:nvPicPr>
        <p:blipFill>
          <a:blip r:embed="rId1"/>
          <a:stretch/>
        </p:blipFill>
        <p:spPr>
          <a:xfrm>
            <a:off x="1840320" y="3054600"/>
            <a:ext cx="2479320" cy="324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7" descr="models_class.png"/>
          <p:cNvPicPr/>
          <p:nvPr/>
        </p:nvPicPr>
        <p:blipFill>
          <a:blip r:embed="rId2"/>
          <a:stretch/>
        </p:blipFill>
        <p:spPr>
          <a:xfrm>
            <a:off x="7920000" y="2880000"/>
            <a:ext cx="2331360" cy="32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F1EB66E-B62F-4268-A410-87EF5742E4E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334800" y="192240"/>
            <a:ext cx="596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Ключевая функциональность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334800" y="868680"/>
            <a:ext cx="11521080" cy="14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Функциональность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посетитель просматривает главную страницу, тренировки, абонементы и оформляет запись;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администратор управляет пользователями, тренерами, расписанием, тарифами и отчетами;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6" descr="homepage.png"/>
          <p:cNvPicPr/>
          <p:nvPr/>
        </p:nvPicPr>
        <p:blipFill>
          <a:blip r:embed="rId1"/>
          <a:stretch/>
        </p:blipFill>
        <p:spPr>
          <a:xfrm>
            <a:off x="411480" y="3022200"/>
            <a:ext cx="3519360" cy="177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7" descr="visitor_workouts.png"/>
          <p:cNvPicPr/>
          <p:nvPr/>
        </p:nvPicPr>
        <p:blipFill>
          <a:blip r:embed="rId2"/>
          <a:stretch/>
        </p:blipFill>
        <p:spPr>
          <a:xfrm>
            <a:off x="4343400" y="3032640"/>
            <a:ext cx="3519360" cy="175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8" descr="admin_dashboard.png"/>
          <p:cNvPicPr/>
          <p:nvPr/>
        </p:nvPicPr>
        <p:blipFill>
          <a:blip r:embed="rId3"/>
          <a:stretch/>
        </p:blipFill>
        <p:spPr>
          <a:xfrm>
            <a:off x="8275320" y="3031560"/>
            <a:ext cx="3519360" cy="175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A5A51E0-7FFC-4BFC-A84E-B0FF69888C4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7" name="TextBox 1"/>
          <p:cNvSpPr/>
          <p:nvPr/>
        </p:nvSpPr>
        <p:spPr>
          <a:xfrm>
            <a:off x="334800" y="192240"/>
            <a:ext cx="596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Тестирование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334800" y="868680"/>
            <a:ext cx="11521080" cy="14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Проверка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тестирование охватывает публичные страницы, авторизацию, пользовательские маршруты, админ-доступ и модели;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отладка выполнялась по маршрутам, формам, шаблонам, связям моделей и правам доступа.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" descr="tests_class.png"/>
          <p:cNvPicPr/>
          <p:nvPr/>
        </p:nvPicPr>
        <p:blipFill>
          <a:blip r:embed="rId1"/>
          <a:stretch/>
        </p:blipFill>
        <p:spPr>
          <a:xfrm>
            <a:off x="3420000" y="2783520"/>
            <a:ext cx="4427640" cy="333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1A17B49-5470-426A-89DF-E8BAEED2A73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Результаты разработки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360000" y="2520000"/>
            <a:ext cx="1152108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Итог разработки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создано работающее веб-приложение для учета клиентов фитнес-клуба;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реализованы регистрация, авторизация, расписание, записи, абонементы, уведомления и аналитика;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подготовлены диаграммы архитектуры, БД, классов, прецедентов и тестовой структуры;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результат соответствует цели ВКР и подтвержден тестированием основных сценариев.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0EF3958-9FA5-4FE8-BA37-BD8363774196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Практическая значимость и личный вклад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334800" y="2967480"/>
            <a:ext cx="11521080" cy="17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Практическая значимость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система снижает объем ручной работы администратора;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клиент получает самостоятельный доступ к расписанию и абонементам;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данные о пользователях, тренировках и посещениях хранятся централизованно;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личный вклад включает анализ, проектирование, реализацию интерфейсов, БД и тестов.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A82E4AA-B5BD-4CA5-A7B5-B0A8A3FA2BC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5"/>
          <p:cNvSpPr/>
          <p:nvPr/>
        </p:nvSpPr>
        <p:spPr>
          <a:xfrm>
            <a:off x="334800" y="560520"/>
            <a:ext cx="1069848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334800" y="191520"/>
            <a:ext cx="5963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A3A95"/>
                </a:solidFill>
                <a:effectLst/>
                <a:uFillTx/>
                <a:latin typeface="Arial Black"/>
              </a:rPr>
              <a:t>Заключение и перспективы развития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334800" y="2828880"/>
            <a:ext cx="11521080" cy="17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54720" rIns="109800" bIns="54720" anchor="t">
            <a:spAutoFit/>
          </a:bodyPr>
          <a:p>
            <a:pPr defTabSz="914400">
              <a:lnSpc>
                <a:spcPct val="95000"/>
              </a:lnSpc>
              <a:spcAft>
                <a:spcPts val="799"/>
              </a:spcAft>
            </a:pPr>
            <a:r>
              <a:rPr lang="ru-RU" sz="2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Выводы и развитие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цель работы достигнута, поставленные задачи выполнены;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разработанная система может служить основой для автоматизации фитнес-клуба;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перспективы: онлайн-оплата, мобильное приложение, кабинет тренера, push-уведомления;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5000"/>
              </a:lnSpc>
              <a:spcAft>
                <a:spcPts val="400"/>
              </a:spcAft>
              <a:buClr>
                <a:srgbClr val="282828"/>
              </a:buClr>
              <a:buFont typeface="Wingdings" charset="2"/>
              <a:buChar char=""/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также возможно расширение аналитики, безопасности и интеграций с внешними сервисами.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AF2D7B-703B-4EA1-95BE-B59989EBE30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2"/>
          <p:cNvSpPr/>
          <p:nvPr/>
        </p:nvSpPr>
        <p:spPr>
          <a:xfrm>
            <a:off x="3048840" y="2979360"/>
            <a:ext cx="609300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Спасибо за внимание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334800" y="0"/>
            <a:ext cx="6093000" cy="14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36720" rIns="73080" bIns="36720" anchor="t">
            <a:spAutoFit/>
          </a:bodyPr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20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Работа завершена. Основные результаты представлены, проект готов к демонстрации и обсуждению.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3048840" y="3440880"/>
            <a:ext cx="60930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Готов(а) ответить на вопросы комиссии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334800" y="4923360"/>
            <a:ext cx="11521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36720" rIns="73080" bIns="36720" anchor="ctr">
            <a:spAutoFit/>
          </a:bodyPr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Репозиторий GitHub: https://github.com/9onin/fitness_gym_app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334800" y="5292720"/>
            <a:ext cx="11521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36720" rIns="73080" bIns="36720" anchor="ctr">
            <a:spAutoFit/>
          </a:bodyPr>
          <a:p>
            <a:pPr defTabSz="914400">
              <a:lnSpc>
                <a:spcPct val="95000"/>
              </a:lnSpc>
              <a:spcAft>
                <a:spcPts val="400"/>
              </a:spcAft>
            </a:pPr>
            <a:r>
              <a:rPr lang="ru-RU" sz="19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QR-код репозитория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" descr="github_qr_fitness_gym.png"/>
          <p:cNvPicPr/>
          <p:nvPr/>
        </p:nvPicPr>
        <p:blipFill>
          <a:blip r:embed="rId1"/>
          <a:stretch/>
        </p:blipFill>
        <p:spPr>
          <a:xfrm>
            <a:off x="2905920" y="5292720"/>
            <a:ext cx="1233360" cy="123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7793D87-FC93-4240-A3E4-C053785C06AE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LibreOffice/26.2.4.2$Windows_X86_64 LibreOffice_project/0229ac93fcf0d7cbc6376066c6f35021cef002dc</Application>
  <AppVersion>15.0000</AppVersion>
  <Words>709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2026-06-13T14:57:40Z</dcterms:created>
  <dc:creator>Anastasi Cheprasova</dc:creator>
  <dc:description/>
  <dc:language>ru-RU</dc:language>
  <cp:lastModifiedBy/>
  <dcterms:modified xsi:type="dcterms:W3CDTF">2026-06-21T22:09:56Z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13</vt:i4>
  </property>
</Properties>
</file>